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I'm Rouzbeh. I looked at a year of house sales in King County for a client who is about to sell, and I have three answers for him: when to sell, where the value sits, and whether it is worth renovating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client is Charles Christensen. He is a seller, he wants a big return, and he asked three very practical questions. Everything I did was aimed at answering these three, and each one gets its own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covers every sale in the county for one year. 21,597 sales of 21,420 houses — a few houses sold twice. I checked those: the shortest gap between two sales is 61 days and no date repeats, so they are genuine resales, not duplicate records. For each house I have size, rooms, build quality, year built, year renovated and exact coordinates. For each sale, the date and the price. Nothing was sampled and no rows were dropped.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choices shape everything that follows. Neighborhood is zipcode, because that is the only geographic unit the data has. Value is price per square foot, so that house size does not drive the answer — comparing total prices would mostly compare how big the houses are. And every figure is a median rather than an average, because as the histograms show, the price distribution has a long tail of expensive homes that would pull an average upward.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touching the results I wrote down three hypotheses, one for each of Charles's questions. Each one names a direction, so it can actually be wrong. The next three slides test them in order — and one of them does not survive.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median price per square foot for each month of the year. April peaks at 260 dollars, December bottoms out at 233 — an eleven percent difference on the same house for doing nothing but waiting. Averaged across the three spring months against the three winter months the gap is about eight percent. Note that the line rises and falls smoothly rather than jumping around, which is what makes me read this as a real seasonal cycle rather than noise.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dot is a sale, placed by its real coordinates and coloured by price per square foot. The bright cluster in the north-west is Lake Washington and central Seattle. The dark band in the south is Auburn, Kent and Federal Way. Top ten zipcodes against bottom ten: 2.76 times the value for the same square foot. Medina at 565 dollars, Federal Way at 145 — a fourfold gap between the single best and worst zipcode.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the analysis turned on me. Comparing houses of the same build grade, renovated homes look dramatically more valuable — twenty-nine percent at grade seven, rising to seventy-nine percent at grade ten. But grade controls for how well a house was built, not for where it stands, and renovated homes happen to cluster in expensive areas. When I repeated the comparison inside each individual zipcode, the premium collapsed to a median of 2.7 percent, and it was positive in only 39 of 68 zipcodes — barely better than a coin flip. Most of what looked like a renovation premium was simply the neighbourhood.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three things. One: sell in spring and aim to close in April — that is roughly ten percent on the same house for waiting, the cheapest return available, and he should avoid closing between November and January. Two: choose what to hold, sell or buy by zipcode, because the Lake Washington and central Seattle cluster carries about three times the value density of the southern suburbs. Three: do not spend on renovation expecting it back at the sale. Renovate because the house needs it, not as an investment.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honest limits. The data covers one year, so a seasonal pattern within that year is visible but no multi-year trend can be claimed. Everything here is association, not proof of cause — I can show that renovated homes sell higher, not that renovating caused it. And the renovated group is small, 744 sales out of 21,597, with the zipcode-level test resting on grades seven and eight alone, so individual zipcode figures carry wide uncertainty.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600200"/>
            <a:ext cx="8046720" cy="868680"/>
          </a:xfrm>
          <a:prstGeom prst="rect">
            <a:avLst/>
          </a:prstGeom>
          <a:noFill/>
          <a:ln/>
        </p:spPr>
        <p:txBody>
          <a:bodyPr wrap="square" lIns="0" tIns="0" rIns="0" bIns="0" rtlCol="0" anchor="ctr"/>
          <a:lstStyle/>
          <a:p>
            <a:pPr indent="0" marL="0">
              <a:buNone/>
            </a:pPr>
            <a:r>
              <a:rPr lang="en-US" sz="4400" b="1" dirty="0">
                <a:solidFill>
                  <a:srgbClr val="1F4235"/>
                </a:solidFill>
                <a:latin typeface="Palatino" pitchFamily="34" charset="0"/>
                <a:ea typeface="Palatino" pitchFamily="34" charset="-122"/>
                <a:cs typeface="Palatino" pitchFamily="34" charset="-120"/>
              </a:rPr>
              <a:t>Selling in King County</a:t>
            </a:r>
            <a:endParaRPr lang="en-US" sz="4400" dirty="0"/>
          </a:p>
        </p:txBody>
      </p:sp>
      <p:sp>
        <p:nvSpPr>
          <p:cNvPr id="3" name="Shape 1"/>
          <p:cNvSpPr/>
          <p:nvPr/>
        </p:nvSpPr>
        <p:spPr>
          <a:xfrm>
            <a:off x="548640" y="2606040"/>
            <a:ext cx="1005840" cy="50292"/>
          </a:xfrm>
          <a:prstGeom prst="rect">
            <a:avLst/>
          </a:prstGeom>
          <a:solidFill>
            <a:srgbClr val="D97A34"/>
          </a:solidFill>
          <a:ln w="12700">
            <a:solidFill>
              <a:srgbClr val="D97A34"/>
            </a:solidFill>
            <a:prstDash val="solid"/>
          </a:ln>
        </p:spPr>
      </p:sp>
      <p:sp>
        <p:nvSpPr>
          <p:cNvPr id="4" name="Text 2"/>
          <p:cNvSpPr txBox="1"/>
          <p:nvPr/>
        </p:nvSpPr>
        <p:spPr>
          <a:xfrm>
            <a:off x="548640" y="2834640"/>
            <a:ext cx="6766560" cy="457200"/>
          </a:xfrm>
          <a:prstGeom prst="rect">
            <a:avLst/>
          </a:prstGeom>
          <a:noFill/>
          <a:ln/>
        </p:spPr>
        <p:txBody>
          <a:bodyPr wrap="square" lIns="0" tIns="0" rIns="0" bIns="0" rtlCol="0" anchor="ctr"/>
          <a:lstStyle/>
          <a:p>
            <a:pPr indent="0" marL="0">
              <a:buNone/>
            </a:pPr>
            <a:r>
              <a:rPr lang="en-US" sz="1600" dirty="0">
                <a:solidFill>
                  <a:srgbClr val="5A6B63"/>
                </a:solidFill>
                <a:latin typeface="Arial" pitchFamily="34" charset="0"/>
                <a:ea typeface="Arial" pitchFamily="34" charset="-122"/>
                <a:cs typeface="Arial" pitchFamily="34" charset="-120"/>
              </a:rPr>
              <a:t>Timing, location and renovation — what a year of sales shows</a:t>
            </a:r>
            <a:endParaRPr lang="en-US" sz="1600" dirty="0"/>
          </a:p>
        </p:txBody>
      </p:sp>
      <p:sp>
        <p:nvSpPr>
          <p:cNvPr id="5" name="Text 3"/>
          <p:cNvSpPr txBox="1"/>
          <p:nvPr/>
        </p:nvSpPr>
        <p:spPr>
          <a:xfrm>
            <a:off x="548640" y="4251960"/>
            <a:ext cx="8046720" cy="274320"/>
          </a:xfrm>
          <a:prstGeom prst="rect">
            <a:avLst/>
          </a:prstGeom>
          <a:noFill/>
          <a:ln/>
        </p:spPr>
        <p:txBody>
          <a:bodyPr wrap="square" lIns="0" tIns="0" rIns="0" bIns="0" rtlCol="0" anchor="ctr"/>
          <a:lstStyle/>
          <a:p>
            <a:pPr indent="0" marL="0">
              <a:buNone/>
            </a:pPr>
            <a:r>
              <a:rPr lang="en-US" sz="1050" dirty="0">
                <a:solidFill>
                  <a:srgbClr val="D97A34"/>
                </a:solidFill>
                <a:latin typeface="Arial" pitchFamily="34" charset="0"/>
                <a:ea typeface="Arial" pitchFamily="34" charset="-122"/>
                <a:cs typeface="Arial" pitchFamily="34" charset="-120"/>
              </a:rPr>
              <a:t>Rouzbeh Enayatzadeh   ·   Exploratory Data Analysis   ·   September 2026</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046720" cy="237744"/>
          </a:xfrm>
          <a:prstGeom prst="rect">
            <a:avLst/>
          </a:prstGeom>
          <a:noFill/>
          <a:ln/>
        </p:spPr>
        <p:txBody>
          <a:bodyPr wrap="square" lIns="0" tIns="0" rIns="0" bIns="0" rtlCol="0" anchor="ctr"/>
          <a:lstStyle/>
          <a:p>
            <a:pPr indent="0" marL="0">
              <a:buNone/>
            </a:pPr>
            <a:r>
              <a:rPr lang="en-US" sz="1100" b="1" spc="200" kern="0" dirty="0">
                <a:solidFill>
                  <a:srgbClr val="D97A34"/>
                </a:solidFill>
                <a:latin typeface="Arial" pitchFamily="34" charset="0"/>
                <a:ea typeface="Arial" pitchFamily="34" charset="-122"/>
                <a:cs typeface="Arial" pitchFamily="34" charset="-120"/>
              </a:rPr>
              <a:t>THE CLIENT</a:t>
            </a:r>
            <a:endParaRPr lang="en-US" sz="1100" dirty="0"/>
          </a:p>
        </p:txBody>
      </p:sp>
      <p:sp>
        <p:nvSpPr>
          <p:cNvPr id="3" name="Text 1"/>
          <p:cNvSpPr txBox="1"/>
          <p:nvPr/>
        </p:nvSpPr>
        <p:spPr>
          <a:xfrm>
            <a:off x="548640" y="603504"/>
            <a:ext cx="8046720" cy="566928"/>
          </a:xfrm>
          <a:prstGeom prst="rect">
            <a:avLst/>
          </a:prstGeom>
          <a:noFill/>
          <a:ln/>
        </p:spPr>
        <p:txBody>
          <a:bodyPr wrap="square" lIns="0" tIns="0" rIns="0" bIns="0" rtlCol="0" anchor="ctr"/>
          <a:lstStyle/>
          <a:p>
            <a:pPr indent="0" marL="0">
              <a:buNone/>
            </a:pPr>
            <a:r>
              <a:rPr lang="en-US" sz="3200" b="1" dirty="0">
                <a:solidFill>
                  <a:srgbClr val="1F4235"/>
                </a:solidFill>
                <a:latin typeface="Palatino" pitchFamily="34" charset="0"/>
                <a:ea typeface="Palatino" pitchFamily="34" charset="-122"/>
                <a:cs typeface="Palatino" pitchFamily="34" charset="-120"/>
              </a:rPr>
              <a:t>Charles has three questions</a:t>
            </a:r>
            <a:endParaRPr lang="en-US" sz="3200" dirty="0"/>
          </a:p>
        </p:txBody>
      </p:sp>
      <p:sp>
        <p:nvSpPr>
          <p:cNvPr id="4" name="Shape 2"/>
          <p:cNvSpPr/>
          <p:nvPr/>
        </p:nvSpPr>
        <p:spPr>
          <a:xfrm>
            <a:off x="548640" y="1600200"/>
            <a:ext cx="2560320" cy="2103120"/>
          </a:xfrm>
          <a:prstGeom prst="roundRect">
            <a:avLst>
              <a:gd name="adj" fmla="val 3478"/>
            </a:avLst>
          </a:prstGeom>
          <a:solidFill>
            <a:srgbClr val="E9F0EA"/>
          </a:solidFill>
          <a:ln w="12700">
            <a:solidFill>
              <a:srgbClr val="E9F0EA"/>
            </a:solidFill>
            <a:prstDash val="solid"/>
          </a:ln>
        </p:spPr>
      </p:sp>
      <p:sp>
        <p:nvSpPr>
          <p:cNvPr id="5" name="Shape 3"/>
          <p:cNvSpPr/>
          <p:nvPr/>
        </p:nvSpPr>
        <p:spPr>
          <a:xfrm>
            <a:off x="822960" y="1920240"/>
            <a:ext cx="365760" cy="365760"/>
          </a:xfrm>
          <a:prstGeom prst="ellipse">
            <a:avLst/>
          </a:prstGeom>
          <a:solidFill>
            <a:srgbClr val="1F4235"/>
          </a:solidFill>
          <a:ln w="12700">
            <a:solidFill>
              <a:srgbClr val="1F4235"/>
            </a:solidFill>
            <a:prstDash val="solid"/>
          </a:ln>
        </p:spPr>
      </p:sp>
      <p:sp>
        <p:nvSpPr>
          <p:cNvPr id="6" name="Text 4"/>
          <p:cNvSpPr txBox="1"/>
          <p:nvPr/>
        </p:nvSpPr>
        <p:spPr>
          <a:xfrm>
            <a:off x="822960" y="192024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7" name="Text 5"/>
          <p:cNvSpPr txBox="1"/>
          <p:nvPr/>
        </p:nvSpPr>
        <p:spPr>
          <a:xfrm>
            <a:off x="822960" y="2514600"/>
            <a:ext cx="2011680" cy="914400"/>
          </a:xfrm>
          <a:prstGeom prst="rect">
            <a:avLst/>
          </a:prstGeom>
          <a:noFill/>
          <a:ln/>
        </p:spPr>
        <p:txBody>
          <a:bodyPr wrap="square" lIns="0" tIns="0" rIns="0" bIns="0" rtlCol="0" anchor="ctr"/>
          <a:lstStyle/>
          <a:p>
            <a:pPr indent="0" marL="0">
              <a:buNone/>
            </a:pPr>
            <a:r>
              <a:rPr lang="en-US" sz="1900" b="1" dirty="0">
                <a:solidFill>
                  <a:srgbClr val="1F4235"/>
                </a:solidFill>
                <a:latin typeface="Palatino" pitchFamily="34" charset="0"/>
                <a:ea typeface="Palatino" pitchFamily="34" charset="-122"/>
                <a:cs typeface="Palatino" pitchFamily="34" charset="-120"/>
              </a:rPr>
              <a:t>When should I sell?</a:t>
            </a:r>
            <a:endParaRPr lang="en-US" sz="1900" dirty="0"/>
          </a:p>
        </p:txBody>
      </p:sp>
      <p:sp>
        <p:nvSpPr>
          <p:cNvPr id="8" name="Shape 6"/>
          <p:cNvSpPr/>
          <p:nvPr/>
        </p:nvSpPr>
        <p:spPr>
          <a:xfrm>
            <a:off x="3291840" y="1600200"/>
            <a:ext cx="2560320" cy="2103120"/>
          </a:xfrm>
          <a:prstGeom prst="roundRect">
            <a:avLst>
              <a:gd name="adj" fmla="val 3478"/>
            </a:avLst>
          </a:prstGeom>
          <a:solidFill>
            <a:srgbClr val="E9F0EA"/>
          </a:solidFill>
          <a:ln w="12700">
            <a:solidFill>
              <a:srgbClr val="E9F0EA"/>
            </a:solidFill>
            <a:prstDash val="solid"/>
          </a:ln>
        </p:spPr>
      </p:sp>
      <p:sp>
        <p:nvSpPr>
          <p:cNvPr id="9" name="Shape 7"/>
          <p:cNvSpPr/>
          <p:nvPr/>
        </p:nvSpPr>
        <p:spPr>
          <a:xfrm>
            <a:off x="3566160" y="1920240"/>
            <a:ext cx="365760" cy="365760"/>
          </a:xfrm>
          <a:prstGeom prst="ellipse">
            <a:avLst/>
          </a:prstGeom>
          <a:solidFill>
            <a:srgbClr val="1F4235"/>
          </a:solidFill>
          <a:ln w="12700">
            <a:solidFill>
              <a:srgbClr val="1F4235"/>
            </a:solidFill>
            <a:prstDash val="solid"/>
          </a:ln>
        </p:spPr>
      </p:sp>
      <p:sp>
        <p:nvSpPr>
          <p:cNvPr id="10" name="Text 8"/>
          <p:cNvSpPr txBox="1"/>
          <p:nvPr/>
        </p:nvSpPr>
        <p:spPr>
          <a:xfrm>
            <a:off x="3566160" y="192024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1" name="Text 9"/>
          <p:cNvSpPr txBox="1"/>
          <p:nvPr/>
        </p:nvSpPr>
        <p:spPr>
          <a:xfrm>
            <a:off x="3566160" y="2514600"/>
            <a:ext cx="2011680" cy="914400"/>
          </a:xfrm>
          <a:prstGeom prst="rect">
            <a:avLst/>
          </a:prstGeom>
          <a:noFill/>
          <a:ln/>
        </p:spPr>
        <p:txBody>
          <a:bodyPr wrap="square" lIns="0" tIns="0" rIns="0" bIns="0" rtlCol="0" anchor="ctr"/>
          <a:lstStyle/>
          <a:p>
            <a:pPr indent="0" marL="0">
              <a:buNone/>
            </a:pPr>
            <a:r>
              <a:rPr lang="en-US" sz="1900" b="1" dirty="0">
                <a:solidFill>
                  <a:srgbClr val="1F4235"/>
                </a:solidFill>
                <a:latin typeface="Palatino" pitchFamily="34" charset="0"/>
                <a:ea typeface="Palatino" pitchFamily="34" charset="-122"/>
                <a:cs typeface="Palatino" pitchFamily="34" charset="-120"/>
              </a:rPr>
              <a:t>Which neighborhood?</a:t>
            </a:r>
            <a:endParaRPr lang="en-US" sz="1900" dirty="0"/>
          </a:p>
        </p:txBody>
      </p:sp>
      <p:sp>
        <p:nvSpPr>
          <p:cNvPr id="12" name="Shape 10"/>
          <p:cNvSpPr/>
          <p:nvPr/>
        </p:nvSpPr>
        <p:spPr>
          <a:xfrm>
            <a:off x="6035040" y="1600200"/>
            <a:ext cx="2560320" cy="2103120"/>
          </a:xfrm>
          <a:prstGeom prst="roundRect">
            <a:avLst>
              <a:gd name="adj" fmla="val 3478"/>
            </a:avLst>
          </a:prstGeom>
          <a:solidFill>
            <a:srgbClr val="E9F0EA"/>
          </a:solidFill>
          <a:ln w="12700">
            <a:solidFill>
              <a:srgbClr val="E9F0EA"/>
            </a:solidFill>
            <a:prstDash val="solid"/>
          </a:ln>
        </p:spPr>
      </p:sp>
      <p:sp>
        <p:nvSpPr>
          <p:cNvPr id="13" name="Shape 11"/>
          <p:cNvSpPr/>
          <p:nvPr/>
        </p:nvSpPr>
        <p:spPr>
          <a:xfrm>
            <a:off x="6309360" y="1920240"/>
            <a:ext cx="365760" cy="365760"/>
          </a:xfrm>
          <a:prstGeom prst="ellipse">
            <a:avLst/>
          </a:prstGeom>
          <a:solidFill>
            <a:srgbClr val="1F4235"/>
          </a:solidFill>
          <a:ln w="12700">
            <a:solidFill>
              <a:srgbClr val="1F4235"/>
            </a:solidFill>
            <a:prstDash val="solid"/>
          </a:ln>
        </p:spPr>
      </p:sp>
      <p:sp>
        <p:nvSpPr>
          <p:cNvPr id="14" name="Text 12"/>
          <p:cNvSpPr txBox="1"/>
          <p:nvPr/>
        </p:nvSpPr>
        <p:spPr>
          <a:xfrm>
            <a:off x="6309360" y="192024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5" name="Text 13"/>
          <p:cNvSpPr txBox="1"/>
          <p:nvPr/>
        </p:nvSpPr>
        <p:spPr>
          <a:xfrm>
            <a:off x="6309360" y="2514600"/>
            <a:ext cx="2011680" cy="914400"/>
          </a:xfrm>
          <a:prstGeom prst="rect">
            <a:avLst/>
          </a:prstGeom>
          <a:noFill/>
          <a:ln/>
        </p:spPr>
        <p:txBody>
          <a:bodyPr wrap="square" lIns="0" tIns="0" rIns="0" bIns="0" rtlCol="0" anchor="ctr"/>
          <a:lstStyle/>
          <a:p>
            <a:pPr indent="0" marL="0">
              <a:buNone/>
            </a:pPr>
            <a:r>
              <a:rPr lang="en-US" sz="1900" b="1" dirty="0">
                <a:solidFill>
                  <a:srgbClr val="1F4235"/>
                </a:solidFill>
                <a:latin typeface="Palatino" pitchFamily="34" charset="0"/>
                <a:ea typeface="Palatino" pitchFamily="34" charset="-122"/>
                <a:cs typeface="Palatino" pitchFamily="34" charset="-120"/>
              </a:rPr>
              <a:t>Should I renovate?</a:t>
            </a:r>
            <a:endParaRPr lang="en-US" sz="1900" dirty="0"/>
          </a:p>
        </p:txBody>
      </p:sp>
      <p:sp>
        <p:nvSpPr>
          <p:cNvPr id="16" name="Text 14"/>
          <p:cNvSpPr txBox="1"/>
          <p:nvPr/>
        </p:nvSpPr>
        <p:spPr>
          <a:xfrm>
            <a:off x="548640" y="3977640"/>
            <a:ext cx="8046720" cy="320040"/>
          </a:xfrm>
          <a:prstGeom prst="rect">
            <a:avLst/>
          </a:prstGeom>
          <a:noFill/>
          <a:ln/>
        </p:spPr>
        <p:txBody>
          <a:bodyPr wrap="square" lIns="0" tIns="0" rIns="0" bIns="0" rtlCol="0" anchor="ctr"/>
          <a:lstStyle/>
          <a:p>
            <a:pPr indent="0" marL="0">
              <a:buNone/>
            </a:pPr>
            <a:r>
              <a:rPr lang="en-US" sz="1300" dirty="0">
                <a:solidFill>
                  <a:srgbClr val="5A6B63"/>
                </a:solidFill>
                <a:latin typeface="Arial" pitchFamily="34" charset="0"/>
                <a:ea typeface="Arial" pitchFamily="34" charset="-122"/>
                <a:cs typeface="Arial" pitchFamily="34" charset="-120"/>
              </a:rPr>
              <a:t>A seller looking for large returns.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046720" cy="237744"/>
          </a:xfrm>
          <a:prstGeom prst="rect">
            <a:avLst/>
          </a:prstGeom>
          <a:noFill/>
          <a:ln/>
        </p:spPr>
        <p:txBody>
          <a:bodyPr wrap="square" lIns="0" tIns="0" rIns="0" bIns="0" rtlCol="0" anchor="ctr"/>
          <a:lstStyle/>
          <a:p>
            <a:pPr indent="0" marL="0">
              <a:buNone/>
            </a:pPr>
            <a:r>
              <a:rPr lang="en-US" sz="1100" b="1" spc="200" kern="0" dirty="0">
                <a:solidFill>
                  <a:srgbClr val="D97A34"/>
                </a:solidFill>
                <a:latin typeface="Arial" pitchFamily="34" charset="0"/>
                <a:ea typeface="Arial" pitchFamily="34" charset="-122"/>
                <a:cs typeface="Arial" pitchFamily="34" charset="-120"/>
              </a:rPr>
              <a:t>THE DATA</a:t>
            </a:r>
            <a:endParaRPr lang="en-US" sz="1100" dirty="0"/>
          </a:p>
        </p:txBody>
      </p:sp>
      <p:sp>
        <p:nvSpPr>
          <p:cNvPr id="3" name="Text 1"/>
          <p:cNvSpPr txBox="1"/>
          <p:nvPr/>
        </p:nvSpPr>
        <p:spPr>
          <a:xfrm>
            <a:off x="548640" y="603504"/>
            <a:ext cx="8046720" cy="566928"/>
          </a:xfrm>
          <a:prstGeom prst="rect">
            <a:avLst/>
          </a:prstGeom>
          <a:noFill/>
          <a:ln/>
        </p:spPr>
        <p:txBody>
          <a:bodyPr wrap="square" lIns="0" tIns="0" rIns="0" bIns="0" rtlCol="0" anchor="ctr"/>
          <a:lstStyle/>
          <a:p>
            <a:pPr indent="0" marL="0">
              <a:buNone/>
            </a:pPr>
            <a:r>
              <a:rPr lang="en-US" sz="3200" b="1" dirty="0">
                <a:solidFill>
                  <a:srgbClr val="1F4235"/>
                </a:solidFill>
                <a:latin typeface="Palatino" pitchFamily="34" charset="0"/>
                <a:ea typeface="Palatino" pitchFamily="34" charset="-122"/>
                <a:cs typeface="Palatino" pitchFamily="34" charset="-120"/>
              </a:rPr>
              <a:t>One year of the whole county</a:t>
            </a:r>
            <a:endParaRPr lang="en-US" sz="3200" dirty="0"/>
          </a:p>
        </p:txBody>
      </p:sp>
      <p:sp>
        <p:nvSpPr>
          <p:cNvPr id="4" name="Text 2"/>
          <p:cNvSpPr txBox="1"/>
          <p:nvPr/>
        </p:nvSpPr>
        <p:spPr>
          <a:xfrm>
            <a:off x="548640" y="1600200"/>
            <a:ext cx="2011680" cy="566928"/>
          </a:xfrm>
          <a:prstGeom prst="rect">
            <a:avLst/>
          </a:prstGeom>
          <a:noFill/>
          <a:ln/>
        </p:spPr>
        <p:txBody>
          <a:bodyPr wrap="square" lIns="0" tIns="0" rIns="0" bIns="0" rtlCol="0" anchor="ctr"/>
          <a:lstStyle/>
          <a:p>
            <a:pPr indent="0" marL="0">
              <a:buNone/>
            </a:pPr>
            <a:r>
              <a:rPr lang="en-US" sz="4000" b="1" dirty="0">
                <a:solidFill>
                  <a:srgbClr val="D97A34"/>
                </a:solidFill>
                <a:latin typeface="Palatino" pitchFamily="34" charset="0"/>
                <a:ea typeface="Palatino" pitchFamily="34" charset="-122"/>
                <a:cs typeface="Palatino" pitchFamily="34" charset="-120"/>
              </a:rPr>
              <a:t>21,597</a:t>
            </a:r>
            <a:endParaRPr lang="en-US" sz="4000" dirty="0"/>
          </a:p>
        </p:txBody>
      </p:sp>
      <p:sp>
        <p:nvSpPr>
          <p:cNvPr id="5" name="Text 3"/>
          <p:cNvSpPr txBox="1"/>
          <p:nvPr/>
        </p:nvSpPr>
        <p:spPr>
          <a:xfrm>
            <a:off x="548640" y="2148840"/>
            <a:ext cx="2011680" cy="384048"/>
          </a:xfrm>
          <a:prstGeom prst="rect">
            <a:avLst/>
          </a:prstGeom>
          <a:noFill/>
          <a:ln/>
        </p:spPr>
        <p:txBody>
          <a:bodyPr wrap="square" lIns="0" tIns="0" rIns="0" bIns="0" rtlCol="0" anchor="ctr"/>
          <a:lstStyle/>
          <a:p>
            <a:pPr indent="0" marL="0">
              <a:buNone/>
            </a:pPr>
            <a:r>
              <a:rPr lang="en-US" sz="1100" dirty="0">
                <a:solidFill>
                  <a:srgbClr val="5A6B63"/>
                </a:solidFill>
                <a:latin typeface="Arial" pitchFamily="34" charset="0"/>
                <a:ea typeface="Arial" pitchFamily="34" charset="-122"/>
                <a:cs typeface="Arial" pitchFamily="34" charset="-120"/>
              </a:rPr>
              <a:t>house sales</a:t>
            </a:r>
            <a:endParaRPr lang="en-US" sz="1100" dirty="0"/>
          </a:p>
        </p:txBody>
      </p:sp>
      <p:sp>
        <p:nvSpPr>
          <p:cNvPr id="6" name="Text 4"/>
          <p:cNvSpPr txBox="1"/>
          <p:nvPr/>
        </p:nvSpPr>
        <p:spPr>
          <a:xfrm>
            <a:off x="2651760" y="1600200"/>
            <a:ext cx="2011680" cy="566928"/>
          </a:xfrm>
          <a:prstGeom prst="rect">
            <a:avLst/>
          </a:prstGeom>
          <a:noFill/>
          <a:ln/>
        </p:spPr>
        <p:txBody>
          <a:bodyPr wrap="square" lIns="0" tIns="0" rIns="0" bIns="0" rtlCol="0" anchor="ctr"/>
          <a:lstStyle/>
          <a:p>
            <a:pPr indent="0" marL="0">
              <a:buNone/>
            </a:pPr>
            <a:r>
              <a:rPr lang="en-US" sz="4000" b="1" dirty="0">
                <a:solidFill>
                  <a:srgbClr val="1F4235"/>
                </a:solidFill>
                <a:latin typeface="Palatino" pitchFamily="34" charset="0"/>
                <a:ea typeface="Palatino" pitchFamily="34" charset="-122"/>
                <a:cs typeface="Palatino" pitchFamily="34" charset="-120"/>
              </a:rPr>
              <a:t>21,420</a:t>
            </a:r>
            <a:endParaRPr lang="en-US" sz="4000" dirty="0"/>
          </a:p>
        </p:txBody>
      </p:sp>
      <p:sp>
        <p:nvSpPr>
          <p:cNvPr id="7" name="Text 5"/>
          <p:cNvSpPr txBox="1"/>
          <p:nvPr/>
        </p:nvSpPr>
        <p:spPr>
          <a:xfrm>
            <a:off x="2651760" y="2148840"/>
            <a:ext cx="2011680" cy="384048"/>
          </a:xfrm>
          <a:prstGeom prst="rect">
            <a:avLst/>
          </a:prstGeom>
          <a:noFill/>
          <a:ln/>
        </p:spPr>
        <p:txBody>
          <a:bodyPr wrap="square" lIns="0" tIns="0" rIns="0" bIns="0" rtlCol="0" anchor="ctr"/>
          <a:lstStyle/>
          <a:p>
            <a:pPr indent="0" marL="0">
              <a:buNone/>
            </a:pPr>
            <a:r>
              <a:rPr lang="en-US" sz="1100" dirty="0">
                <a:solidFill>
                  <a:srgbClr val="5A6B63"/>
                </a:solidFill>
                <a:latin typeface="Arial" pitchFamily="34" charset="0"/>
                <a:ea typeface="Arial" pitchFamily="34" charset="-122"/>
                <a:cs typeface="Arial" pitchFamily="34" charset="-120"/>
              </a:rPr>
              <a:t>individual houses</a:t>
            </a:r>
            <a:endParaRPr lang="en-US" sz="1100" dirty="0"/>
          </a:p>
        </p:txBody>
      </p:sp>
      <p:sp>
        <p:nvSpPr>
          <p:cNvPr id="8" name="Text 6"/>
          <p:cNvSpPr txBox="1"/>
          <p:nvPr/>
        </p:nvSpPr>
        <p:spPr>
          <a:xfrm>
            <a:off x="4754880" y="1600200"/>
            <a:ext cx="2011680" cy="566928"/>
          </a:xfrm>
          <a:prstGeom prst="rect">
            <a:avLst/>
          </a:prstGeom>
          <a:noFill/>
          <a:ln/>
        </p:spPr>
        <p:txBody>
          <a:bodyPr wrap="square" lIns="0" tIns="0" rIns="0" bIns="0" rtlCol="0" anchor="ctr"/>
          <a:lstStyle/>
          <a:p>
            <a:pPr indent="0" marL="0">
              <a:buNone/>
            </a:pPr>
            <a:r>
              <a:rPr lang="en-US" sz="4000" b="1" dirty="0">
                <a:solidFill>
                  <a:srgbClr val="1F4235"/>
                </a:solidFill>
                <a:latin typeface="Palatino" pitchFamily="34" charset="0"/>
                <a:ea typeface="Palatino" pitchFamily="34" charset="-122"/>
                <a:cs typeface="Palatino" pitchFamily="34" charset="-120"/>
              </a:rPr>
              <a:t>70</a:t>
            </a:r>
            <a:endParaRPr lang="en-US" sz="4000" dirty="0"/>
          </a:p>
        </p:txBody>
      </p:sp>
      <p:sp>
        <p:nvSpPr>
          <p:cNvPr id="9" name="Text 7"/>
          <p:cNvSpPr txBox="1"/>
          <p:nvPr/>
        </p:nvSpPr>
        <p:spPr>
          <a:xfrm>
            <a:off x="4754880" y="2148840"/>
            <a:ext cx="2011680" cy="384048"/>
          </a:xfrm>
          <a:prstGeom prst="rect">
            <a:avLst/>
          </a:prstGeom>
          <a:noFill/>
          <a:ln/>
        </p:spPr>
        <p:txBody>
          <a:bodyPr wrap="square" lIns="0" tIns="0" rIns="0" bIns="0" rtlCol="0" anchor="ctr"/>
          <a:lstStyle/>
          <a:p>
            <a:pPr indent="0" marL="0">
              <a:buNone/>
            </a:pPr>
            <a:r>
              <a:rPr lang="en-US" sz="1100" dirty="0">
                <a:solidFill>
                  <a:srgbClr val="5A6B63"/>
                </a:solidFill>
                <a:latin typeface="Arial" pitchFamily="34" charset="0"/>
                <a:ea typeface="Arial" pitchFamily="34" charset="-122"/>
                <a:cs typeface="Arial" pitchFamily="34" charset="-120"/>
              </a:rPr>
              <a:t>zipcodes</a:t>
            </a:r>
            <a:endParaRPr lang="en-US" sz="1100" dirty="0"/>
          </a:p>
        </p:txBody>
      </p:sp>
      <p:sp>
        <p:nvSpPr>
          <p:cNvPr id="10" name="Text 8"/>
          <p:cNvSpPr txBox="1"/>
          <p:nvPr/>
        </p:nvSpPr>
        <p:spPr>
          <a:xfrm>
            <a:off x="6858000" y="1600200"/>
            <a:ext cx="2103120" cy="566928"/>
          </a:xfrm>
          <a:prstGeom prst="rect">
            <a:avLst/>
          </a:prstGeom>
          <a:noFill/>
          <a:ln/>
        </p:spPr>
        <p:txBody>
          <a:bodyPr wrap="square" lIns="0" tIns="0" rIns="0" bIns="0" rtlCol="0" anchor="ctr"/>
          <a:lstStyle/>
          <a:p>
            <a:pPr indent="0" marL="0">
              <a:buNone/>
            </a:pPr>
            <a:r>
              <a:rPr lang="en-US" sz="4000" b="1" dirty="0">
                <a:solidFill>
                  <a:srgbClr val="1F4235"/>
                </a:solidFill>
                <a:latin typeface="Palatino" pitchFamily="34" charset="0"/>
                <a:ea typeface="Palatino" pitchFamily="34" charset="-122"/>
                <a:cs typeface="Palatino" pitchFamily="34" charset="-120"/>
              </a:rPr>
              <a:t>12</a:t>
            </a:r>
            <a:endParaRPr lang="en-US" sz="4000" dirty="0"/>
          </a:p>
        </p:txBody>
      </p:sp>
      <p:sp>
        <p:nvSpPr>
          <p:cNvPr id="11" name="Text 9"/>
          <p:cNvSpPr txBox="1"/>
          <p:nvPr/>
        </p:nvSpPr>
        <p:spPr>
          <a:xfrm>
            <a:off x="6858000" y="2148840"/>
            <a:ext cx="2103120" cy="384048"/>
          </a:xfrm>
          <a:prstGeom prst="rect">
            <a:avLst/>
          </a:prstGeom>
          <a:noFill/>
          <a:ln/>
        </p:spPr>
        <p:txBody>
          <a:bodyPr wrap="square" lIns="0" tIns="0" rIns="0" bIns="0" rtlCol="0" anchor="ctr"/>
          <a:lstStyle/>
          <a:p>
            <a:pPr indent="0" marL="0">
              <a:buNone/>
            </a:pPr>
            <a:r>
              <a:rPr lang="en-US" sz="1100" dirty="0">
                <a:solidFill>
                  <a:srgbClr val="5A6B63"/>
                </a:solidFill>
                <a:latin typeface="Arial" pitchFamily="34" charset="0"/>
                <a:ea typeface="Arial" pitchFamily="34" charset="-122"/>
                <a:cs typeface="Arial" pitchFamily="34" charset="-120"/>
              </a:rPr>
              <a:t>months</a:t>
            </a:r>
            <a:endParaRPr lang="en-US" sz="1100" dirty="0"/>
          </a:p>
        </p:txBody>
      </p:sp>
      <p:sp>
        <p:nvSpPr>
          <p:cNvPr id="12" name="Shape 10"/>
          <p:cNvSpPr/>
          <p:nvPr/>
        </p:nvSpPr>
        <p:spPr>
          <a:xfrm>
            <a:off x="548640" y="3154680"/>
            <a:ext cx="8046720" cy="1051560"/>
          </a:xfrm>
          <a:prstGeom prst="roundRect">
            <a:avLst>
              <a:gd name="adj" fmla="val 6957"/>
            </a:avLst>
          </a:prstGeom>
          <a:solidFill>
            <a:srgbClr val="E9F0EA"/>
          </a:solidFill>
          <a:ln w="12700">
            <a:solidFill>
              <a:srgbClr val="E9F0EA"/>
            </a:solidFill>
            <a:prstDash val="solid"/>
          </a:ln>
        </p:spPr>
      </p:sp>
      <p:sp>
        <p:nvSpPr>
          <p:cNvPr id="13" name="Text 11"/>
          <p:cNvSpPr txBox="1"/>
          <p:nvPr/>
        </p:nvSpPr>
        <p:spPr>
          <a:xfrm>
            <a:off x="914400" y="3429000"/>
            <a:ext cx="7315200" cy="457200"/>
          </a:xfrm>
          <a:prstGeom prst="rect">
            <a:avLst/>
          </a:prstGeom>
          <a:noFill/>
          <a:ln/>
        </p:spPr>
        <p:txBody>
          <a:bodyPr wrap="square" lIns="0" tIns="0" rIns="0" bIns="0" rtlCol="0" anchor="ctr"/>
          <a:lstStyle/>
          <a:p>
            <a:pPr indent="0" marL="0">
              <a:buNone/>
            </a:pPr>
            <a:r>
              <a:rPr lang="en-US" sz="1700" b="1" dirty="0">
                <a:solidFill>
                  <a:srgbClr val="1F4235"/>
                </a:solidFill>
                <a:latin typeface="Palatino" pitchFamily="34" charset="0"/>
                <a:ea typeface="Palatino" pitchFamily="34" charset="-122"/>
                <a:cs typeface="Palatino" pitchFamily="34" charset="-120"/>
              </a:rPr>
              <a:t>Every recorded sale in King County, Washington, from May 2014 to May 2015.</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046720" cy="237744"/>
          </a:xfrm>
          <a:prstGeom prst="rect">
            <a:avLst/>
          </a:prstGeom>
          <a:noFill/>
          <a:ln/>
        </p:spPr>
        <p:txBody>
          <a:bodyPr wrap="square" lIns="0" tIns="0" rIns="0" bIns="0" rtlCol="0" anchor="ctr"/>
          <a:lstStyle/>
          <a:p>
            <a:pPr indent="0" marL="0">
              <a:buNone/>
            </a:pPr>
            <a:r>
              <a:rPr lang="en-US" sz="1100" b="1" spc="200" kern="0" dirty="0">
                <a:solidFill>
                  <a:srgbClr val="D97A34"/>
                </a:solidFill>
                <a:latin typeface="Arial" pitchFamily="34" charset="0"/>
                <a:ea typeface="Arial" pitchFamily="34" charset="-122"/>
                <a:cs typeface="Arial" pitchFamily="34" charset="-120"/>
              </a:rPr>
              <a:t>HOW I READ THE DATA</a:t>
            </a:r>
            <a:endParaRPr lang="en-US" sz="1100" dirty="0"/>
          </a:p>
        </p:txBody>
      </p:sp>
      <p:sp>
        <p:nvSpPr>
          <p:cNvPr id="3" name="Text 1"/>
          <p:cNvSpPr txBox="1"/>
          <p:nvPr/>
        </p:nvSpPr>
        <p:spPr>
          <a:xfrm>
            <a:off x="548640" y="603504"/>
            <a:ext cx="8046720" cy="566928"/>
          </a:xfrm>
          <a:prstGeom prst="rect">
            <a:avLst/>
          </a:prstGeom>
          <a:noFill/>
          <a:ln/>
        </p:spPr>
        <p:txBody>
          <a:bodyPr wrap="square" lIns="0" tIns="0" rIns="0" bIns="0" rtlCol="0" anchor="ctr"/>
          <a:lstStyle/>
          <a:p>
            <a:pPr indent="0" marL="0">
              <a:buNone/>
            </a:pPr>
            <a:r>
              <a:rPr lang="en-US" sz="3200" b="1" dirty="0">
                <a:solidFill>
                  <a:srgbClr val="1F4235"/>
                </a:solidFill>
                <a:latin typeface="Palatino" pitchFamily="34" charset="0"/>
                <a:ea typeface="Palatino" pitchFamily="34" charset="-122"/>
                <a:cs typeface="Palatino" pitchFamily="34" charset="-120"/>
              </a:rPr>
              <a:t>Three choices behind every number</a:t>
            </a:r>
            <a:endParaRPr lang="en-US" sz="3200" dirty="0"/>
          </a:p>
        </p:txBody>
      </p:sp>
      <p:sp>
        <p:nvSpPr>
          <p:cNvPr id="4" name="Shape 2"/>
          <p:cNvSpPr/>
          <p:nvPr/>
        </p:nvSpPr>
        <p:spPr>
          <a:xfrm>
            <a:off x="548640" y="1508760"/>
            <a:ext cx="365760" cy="365760"/>
          </a:xfrm>
          <a:prstGeom prst="ellipse">
            <a:avLst/>
          </a:prstGeom>
          <a:solidFill>
            <a:srgbClr val="1F4235"/>
          </a:solidFill>
          <a:ln w="12700">
            <a:solidFill>
              <a:srgbClr val="1F4235"/>
            </a:solidFill>
            <a:prstDash val="solid"/>
          </a:ln>
        </p:spPr>
      </p:sp>
      <p:sp>
        <p:nvSpPr>
          <p:cNvPr id="5" name="Text 3"/>
          <p:cNvSpPr txBox="1"/>
          <p:nvPr/>
        </p:nvSpPr>
        <p:spPr>
          <a:xfrm>
            <a:off x="548640" y="150876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6" name="Text 4"/>
          <p:cNvSpPr txBox="1"/>
          <p:nvPr/>
        </p:nvSpPr>
        <p:spPr>
          <a:xfrm>
            <a:off x="1097280" y="1472184"/>
            <a:ext cx="3017520" cy="640080"/>
          </a:xfrm>
          <a:prstGeom prst="rect">
            <a:avLst/>
          </a:prstGeom>
          <a:noFill/>
          <a:ln/>
        </p:spPr>
        <p:txBody>
          <a:bodyPr wrap="square" lIns="0" tIns="0" rIns="0" bIns="0" rtlCol="0" anchor="ctr"/>
          <a:lstStyle/>
          <a:p>
            <a:pPr indent="0" marL="0">
              <a:buNone/>
            </a:pPr>
            <a:r>
              <a:rPr lang="en-US" sz="1600" b="1" dirty="0">
                <a:solidFill>
                  <a:srgbClr val="1F4235"/>
                </a:solidFill>
                <a:latin typeface="Palatino" pitchFamily="34" charset="0"/>
                <a:ea typeface="Palatino" pitchFamily="34" charset="-122"/>
                <a:cs typeface="Palatino" pitchFamily="34" charset="-120"/>
              </a:rPr>
              <a:t>Neighborhood means zipcode</a:t>
            </a:r>
            <a:endParaRPr lang="en-US" sz="1600" dirty="0"/>
          </a:p>
        </p:txBody>
      </p:sp>
      <p:sp>
        <p:nvSpPr>
          <p:cNvPr id="7" name="Shape 5"/>
          <p:cNvSpPr/>
          <p:nvPr/>
        </p:nvSpPr>
        <p:spPr>
          <a:xfrm>
            <a:off x="548640" y="2377440"/>
            <a:ext cx="365760" cy="365760"/>
          </a:xfrm>
          <a:prstGeom prst="ellipse">
            <a:avLst/>
          </a:prstGeom>
          <a:solidFill>
            <a:srgbClr val="1F4235"/>
          </a:solidFill>
          <a:ln w="12700">
            <a:solidFill>
              <a:srgbClr val="1F4235"/>
            </a:solidFill>
            <a:prstDash val="solid"/>
          </a:ln>
        </p:spPr>
      </p:sp>
      <p:sp>
        <p:nvSpPr>
          <p:cNvPr id="8" name="Text 6"/>
          <p:cNvSpPr txBox="1"/>
          <p:nvPr/>
        </p:nvSpPr>
        <p:spPr>
          <a:xfrm>
            <a:off x="548640" y="237744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9" name="Text 7"/>
          <p:cNvSpPr txBox="1"/>
          <p:nvPr/>
        </p:nvSpPr>
        <p:spPr>
          <a:xfrm>
            <a:off x="1097280" y="2340864"/>
            <a:ext cx="3017520" cy="640080"/>
          </a:xfrm>
          <a:prstGeom prst="rect">
            <a:avLst/>
          </a:prstGeom>
          <a:noFill/>
          <a:ln/>
        </p:spPr>
        <p:txBody>
          <a:bodyPr wrap="square" lIns="0" tIns="0" rIns="0" bIns="0" rtlCol="0" anchor="ctr"/>
          <a:lstStyle/>
          <a:p>
            <a:pPr indent="0" marL="0">
              <a:buNone/>
            </a:pPr>
            <a:r>
              <a:rPr lang="en-US" sz="1600" b="1" dirty="0">
                <a:solidFill>
                  <a:srgbClr val="1F4235"/>
                </a:solidFill>
                <a:latin typeface="Palatino" pitchFamily="34" charset="0"/>
                <a:ea typeface="Palatino" pitchFamily="34" charset="-122"/>
                <a:cs typeface="Palatino" pitchFamily="34" charset="-120"/>
              </a:rPr>
              <a:t>Value means price per square foot</a:t>
            </a:r>
            <a:endParaRPr lang="en-US" sz="1600" dirty="0"/>
          </a:p>
        </p:txBody>
      </p:sp>
      <p:sp>
        <p:nvSpPr>
          <p:cNvPr id="10" name="Shape 8"/>
          <p:cNvSpPr/>
          <p:nvPr/>
        </p:nvSpPr>
        <p:spPr>
          <a:xfrm>
            <a:off x="548640" y="3246120"/>
            <a:ext cx="365760" cy="365760"/>
          </a:xfrm>
          <a:prstGeom prst="ellipse">
            <a:avLst/>
          </a:prstGeom>
          <a:solidFill>
            <a:srgbClr val="1F4235"/>
          </a:solidFill>
          <a:ln w="12700">
            <a:solidFill>
              <a:srgbClr val="1F4235"/>
            </a:solidFill>
            <a:prstDash val="solid"/>
          </a:ln>
        </p:spPr>
      </p:sp>
      <p:sp>
        <p:nvSpPr>
          <p:cNvPr id="11" name="Text 9"/>
          <p:cNvSpPr txBox="1"/>
          <p:nvPr/>
        </p:nvSpPr>
        <p:spPr>
          <a:xfrm>
            <a:off x="548640" y="324612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2" name="Text 10"/>
          <p:cNvSpPr txBox="1"/>
          <p:nvPr/>
        </p:nvSpPr>
        <p:spPr>
          <a:xfrm>
            <a:off x="1097280" y="3209544"/>
            <a:ext cx="3017520" cy="640080"/>
          </a:xfrm>
          <a:prstGeom prst="rect">
            <a:avLst/>
          </a:prstGeom>
          <a:noFill/>
          <a:ln/>
        </p:spPr>
        <p:txBody>
          <a:bodyPr wrap="square" lIns="0" tIns="0" rIns="0" bIns="0" rtlCol="0" anchor="ctr"/>
          <a:lstStyle/>
          <a:p>
            <a:pPr indent="0" marL="0">
              <a:buNone/>
            </a:pPr>
            <a:r>
              <a:rPr lang="en-US" sz="1600" b="1" dirty="0">
                <a:solidFill>
                  <a:srgbClr val="1F4235"/>
                </a:solidFill>
                <a:latin typeface="Palatino" pitchFamily="34" charset="0"/>
                <a:ea typeface="Palatino" pitchFamily="34" charset="-122"/>
                <a:cs typeface="Palatino" pitchFamily="34" charset="-120"/>
              </a:rPr>
              <a:t>Every figure is a median</a:t>
            </a:r>
            <a:endParaRPr lang="en-US" sz="1600" dirty="0"/>
          </a:p>
        </p:txBody>
      </p:sp>
      <p:sp>
        <p:nvSpPr>
          <p:cNvPr id="13" name="Text 11"/>
          <p:cNvSpPr txBox="1"/>
          <p:nvPr/>
        </p:nvSpPr>
        <p:spPr>
          <a:xfrm>
            <a:off x="1097280" y="4114800"/>
            <a:ext cx="3108960" cy="548640"/>
          </a:xfrm>
          <a:prstGeom prst="rect">
            <a:avLst/>
          </a:prstGeom>
          <a:noFill/>
          <a:ln/>
        </p:spPr>
        <p:txBody>
          <a:bodyPr wrap="square" lIns="0" tIns="0" rIns="0" bIns="0" rtlCol="0" anchor="ctr"/>
          <a:lstStyle/>
          <a:p>
            <a:pPr indent="0" marL="0">
              <a:buNone/>
            </a:pPr>
            <a:r>
              <a:rPr lang="en-US" sz="1150" dirty="0">
                <a:solidFill>
                  <a:srgbClr val="5A6B63"/>
                </a:solidFill>
                <a:latin typeface="Arial" pitchFamily="34" charset="0"/>
                <a:ea typeface="Arial" pitchFamily="34" charset="-122"/>
                <a:cs typeface="Arial" pitchFamily="34" charset="-120"/>
              </a:rPr>
              <a:t>A few multi-million-dollar sales would drag any average upward.</a:t>
            </a:r>
            <a:endParaRPr lang="en-US" sz="1150" dirty="0"/>
          </a:p>
        </p:txBody>
      </p:sp>
      <p:pic>
        <p:nvPicPr>
          <p:cNvPr id="14" name="Image 0" descr="images/distributions.png">    </p:cNvPr>
          <p:cNvPicPr>
            <a:picLocks noChangeAspect="1"/>
          </p:cNvPicPr>
          <p:nvPr/>
        </p:nvPicPr>
        <p:blipFill>
          <a:blip r:embed="rId1"/>
          <a:stretch>
            <a:fillRect/>
          </a:stretch>
        </p:blipFill>
        <p:spPr>
          <a:xfrm>
            <a:off x="4069080" y="1280160"/>
            <a:ext cx="4526280" cy="2999232"/>
          </a:xfrm>
          <a:prstGeom prst="rect">
            <a:avLst/>
          </a:prstGeom>
        </p:spPr>
      </p:pic>
      <p:sp>
        <p:nvSpPr>
          <p:cNvPr id="15" name="Text 12"/>
          <p:cNvSpPr txBox="1"/>
          <p:nvPr/>
        </p:nvSpPr>
        <p:spPr>
          <a:xfrm>
            <a:off x="4069080" y="4343400"/>
            <a:ext cx="4526280" cy="320040"/>
          </a:xfrm>
          <a:prstGeom prst="rect">
            <a:avLst/>
          </a:prstGeom>
          <a:noFill/>
          <a:ln/>
        </p:spPr>
        <p:txBody>
          <a:bodyPr wrap="square" lIns="0" tIns="0" rIns="0" bIns="0" rtlCol="0" anchor="ctr"/>
          <a:lstStyle/>
          <a:p>
            <a:pPr indent="0" marL="0">
              <a:buNone/>
            </a:pPr>
            <a:r>
              <a:rPr lang="en-US" sz="1100" i="1" dirty="0">
                <a:solidFill>
                  <a:srgbClr val="5A6B63"/>
                </a:solidFill>
                <a:latin typeface="Arial" pitchFamily="34" charset="0"/>
                <a:ea typeface="Arial" pitchFamily="34" charset="-122"/>
                <a:cs typeface="Arial" pitchFamily="34" charset="-120"/>
              </a:rPr>
              <a:t>Price, size and value per square foot all lean to the right.</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046720" cy="237744"/>
          </a:xfrm>
          <a:prstGeom prst="rect">
            <a:avLst/>
          </a:prstGeom>
          <a:noFill/>
          <a:ln/>
        </p:spPr>
        <p:txBody>
          <a:bodyPr wrap="square" lIns="0" tIns="0" rIns="0" bIns="0" rtlCol="0" anchor="ctr"/>
          <a:lstStyle/>
          <a:p>
            <a:pPr indent="0" marL="0">
              <a:buNone/>
            </a:pPr>
            <a:r>
              <a:rPr lang="en-US" sz="1100" b="1" spc="200" kern="0" dirty="0">
                <a:solidFill>
                  <a:srgbClr val="D97A34"/>
                </a:solidFill>
                <a:latin typeface="Arial" pitchFamily="34" charset="0"/>
                <a:ea typeface="Arial" pitchFamily="34" charset="-122"/>
                <a:cs typeface="Arial" pitchFamily="34" charset="-120"/>
              </a:rPr>
              <a:t>HYPOTHESES</a:t>
            </a:r>
            <a:endParaRPr lang="en-US" sz="1100" dirty="0"/>
          </a:p>
        </p:txBody>
      </p:sp>
      <p:sp>
        <p:nvSpPr>
          <p:cNvPr id="3" name="Text 1"/>
          <p:cNvSpPr txBox="1"/>
          <p:nvPr/>
        </p:nvSpPr>
        <p:spPr>
          <a:xfrm>
            <a:off x="548640" y="603504"/>
            <a:ext cx="8046720" cy="566928"/>
          </a:xfrm>
          <a:prstGeom prst="rect">
            <a:avLst/>
          </a:prstGeom>
          <a:noFill/>
          <a:ln/>
        </p:spPr>
        <p:txBody>
          <a:bodyPr wrap="square" lIns="0" tIns="0" rIns="0" bIns="0" rtlCol="0" anchor="ctr"/>
          <a:lstStyle/>
          <a:p>
            <a:pPr indent="0" marL="0">
              <a:buNone/>
            </a:pPr>
            <a:r>
              <a:rPr lang="en-US" sz="3200" b="1" dirty="0">
                <a:solidFill>
                  <a:srgbClr val="1F4235"/>
                </a:solidFill>
                <a:latin typeface="Palatino" pitchFamily="34" charset="0"/>
                <a:ea typeface="Palatino" pitchFamily="34" charset="-122"/>
                <a:cs typeface="Palatino" pitchFamily="34" charset="-120"/>
              </a:rPr>
              <a:t>What I expected to find</a:t>
            </a:r>
            <a:endParaRPr lang="en-US" sz="3200" dirty="0"/>
          </a:p>
        </p:txBody>
      </p:sp>
      <p:sp>
        <p:nvSpPr>
          <p:cNvPr id="4" name="Shape 2"/>
          <p:cNvSpPr/>
          <p:nvPr/>
        </p:nvSpPr>
        <p:spPr>
          <a:xfrm>
            <a:off x="548640" y="1463040"/>
            <a:ext cx="8046720" cy="914400"/>
          </a:xfrm>
          <a:prstGeom prst="roundRect">
            <a:avLst>
              <a:gd name="adj" fmla="val 8000"/>
            </a:avLst>
          </a:prstGeom>
          <a:solidFill>
            <a:srgbClr val="E9F0EA"/>
          </a:solidFill>
          <a:ln w="12700">
            <a:solidFill>
              <a:srgbClr val="E9F0EA"/>
            </a:solidFill>
            <a:prstDash val="solid"/>
          </a:ln>
        </p:spPr>
      </p:sp>
      <p:sp>
        <p:nvSpPr>
          <p:cNvPr id="5" name="Shape 3"/>
          <p:cNvSpPr/>
          <p:nvPr/>
        </p:nvSpPr>
        <p:spPr>
          <a:xfrm>
            <a:off x="822960" y="1737360"/>
            <a:ext cx="365760" cy="365760"/>
          </a:xfrm>
          <a:prstGeom prst="ellipse">
            <a:avLst/>
          </a:prstGeom>
          <a:solidFill>
            <a:srgbClr val="1F4235"/>
          </a:solidFill>
          <a:ln w="12700">
            <a:solidFill>
              <a:srgbClr val="1F4235"/>
            </a:solidFill>
            <a:prstDash val="solid"/>
          </a:ln>
        </p:spPr>
      </p:sp>
      <p:sp>
        <p:nvSpPr>
          <p:cNvPr id="6" name="Text 4"/>
          <p:cNvSpPr txBox="1"/>
          <p:nvPr/>
        </p:nvSpPr>
        <p:spPr>
          <a:xfrm>
            <a:off x="822960" y="173736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7" name="Text 5"/>
          <p:cNvSpPr txBox="1"/>
          <p:nvPr/>
        </p:nvSpPr>
        <p:spPr>
          <a:xfrm>
            <a:off x="1371600" y="1645920"/>
            <a:ext cx="7315200" cy="566928"/>
          </a:xfrm>
          <a:prstGeom prst="rect">
            <a:avLst/>
          </a:prstGeom>
          <a:noFill/>
          <a:ln/>
        </p:spPr>
        <p:txBody>
          <a:bodyPr wrap="square" lIns="0" tIns="0" rIns="0" bIns="0" rtlCol="0" anchor="ctr"/>
          <a:lstStyle/>
          <a:p>
            <a:pPr indent="0" marL="0">
              <a:buNone/>
            </a:pPr>
            <a:r>
              <a:rPr lang="en-US" sz="1500" dirty="0">
                <a:solidFill>
                  <a:srgbClr val="1F4235"/>
                </a:solidFill>
                <a:latin typeface="Palatino" pitchFamily="34" charset="0"/>
                <a:ea typeface="Palatino" pitchFamily="34" charset="-122"/>
                <a:cs typeface="Palatino" pitchFamily="34" charset="-120"/>
              </a:rPr>
              <a:t>Houses sold in spring sell for more than houses sold in winter.</a:t>
            </a:r>
            <a:endParaRPr lang="en-US" sz="1500" dirty="0"/>
          </a:p>
        </p:txBody>
      </p:sp>
      <p:sp>
        <p:nvSpPr>
          <p:cNvPr id="8" name="Shape 6"/>
          <p:cNvSpPr/>
          <p:nvPr/>
        </p:nvSpPr>
        <p:spPr>
          <a:xfrm>
            <a:off x="548640" y="2542032"/>
            <a:ext cx="8046720" cy="914400"/>
          </a:xfrm>
          <a:prstGeom prst="roundRect">
            <a:avLst>
              <a:gd name="adj" fmla="val 8000"/>
            </a:avLst>
          </a:prstGeom>
          <a:solidFill>
            <a:srgbClr val="E9F0EA"/>
          </a:solidFill>
          <a:ln w="12700">
            <a:solidFill>
              <a:srgbClr val="E9F0EA"/>
            </a:solidFill>
            <a:prstDash val="solid"/>
          </a:ln>
        </p:spPr>
      </p:sp>
      <p:sp>
        <p:nvSpPr>
          <p:cNvPr id="9" name="Shape 7"/>
          <p:cNvSpPr/>
          <p:nvPr/>
        </p:nvSpPr>
        <p:spPr>
          <a:xfrm>
            <a:off x="822960" y="2816352"/>
            <a:ext cx="365760" cy="365760"/>
          </a:xfrm>
          <a:prstGeom prst="ellipse">
            <a:avLst/>
          </a:prstGeom>
          <a:solidFill>
            <a:srgbClr val="1F4235"/>
          </a:solidFill>
          <a:ln w="12700">
            <a:solidFill>
              <a:srgbClr val="1F4235"/>
            </a:solidFill>
            <a:prstDash val="solid"/>
          </a:ln>
        </p:spPr>
      </p:sp>
      <p:sp>
        <p:nvSpPr>
          <p:cNvPr id="10" name="Text 8"/>
          <p:cNvSpPr txBox="1"/>
          <p:nvPr/>
        </p:nvSpPr>
        <p:spPr>
          <a:xfrm>
            <a:off x="822960" y="281635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1" name="Text 9"/>
          <p:cNvSpPr txBox="1"/>
          <p:nvPr/>
        </p:nvSpPr>
        <p:spPr>
          <a:xfrm>
            <a:off x="1371600" y="2724912"/>
            <a:ext cx="7315200" cy="566928"/>
          </a:xfrm>
          <a:prstGeom prst="rect">
            <a:avLst/>
          </a:prstGeom>
          <a:noFill/>
          <a:ln/>
        </p:spPr>
        <p:txBody>
          <a:bodyPr wrap="square" lIns="0" tIns="0" rIns="0" bIns="0" rtlCol="0" anchor="ctr"/>
          <a:lstStyle/>
          <a:p>
            <a:pPr indent="0" marL="0">
              <a:buNone/>
            </a:pPr>
            <a:r>
              <a:rPr lang="en-US" sz="1500" dirty="0">
                <a:solidFill>
                  <a:srgbClr val="1F4235"/>
                </a:solidFill>
                <a:latin typeface="Palatino" pitchFamily="34" charset="0"/>
                <a:ea typeface="Palatino" pitchFamily="34" charset="-122"/>
                <a:cs typeface="Palatino" pitchFamily="34" charset="-120"/>
              </a:rPr>
              <a:t>Neighborhoods near the water and the city centre carry a higher price per square foot than outlying ones.</a:t>
            </a:r>
            <a:endParaRPr lang="en-US" sz="1500" dirty="0"/>
          </a:p>
        </p:txBody>
      </p:sp>
      <p:sp>
        <p:nvSpPr>
          <p:cNvPr id="12" name="Shape 10"/>
          <p:cNvSpPr/>
          <p:nvPr/>
        </p:nvSpPr>
        <p:spPr>
          <a:xfrm>
            <a:off x="548640" y="3621024"/>
            <a:ext cx="8046720" cy="914400"/>
          </a:xfrm>
          <a:prstGeom prst="roundRect">
            <a:avLst>
              <a:gd name="adj" fmla="val 8000"/>
            </a:avLst>
          </a:prstGeom>
          <a:solidFill>
            <a:srgbClr val="E9F0EA"/>
          </a:solidFill>
          <a:ln w="12700">
            <a:solidFill>
              <a:srgbClr val="E9F0EA"/>
            </a:solidFill>
            <a:prstDash val="solid"/>
          </a:ln>
        </p:spPr>
      </p:sp>
      <p:sp>
        <p:nvSpPr>
          <p:cNvPr id="13" name="Shape 11"/>
          <p:cNvSpPr/>
          <p:nvPr/>
        </p:nvSpPr>
        <p:spPr>
          <a:xfrm>
            <a:off x="822960" y="3895344"/>
            <a:ext cx="365760" cy="365760"/>
          </a:xfrm>
          <a:prstGeom prst="ellipse">
            <a:avLst/>
          </a:prstGeom>
          <a:solidFill>
            <a:srgbClr val="1F4235"/>
          </a:solidFill>
          <a:ln w="12700">
            <a:solidFill>
              <a:srgbClr val="1F4235"/>
            </a:solidFill>
            <a:prstDash val="solid"/>
          </a:ln>
        </p:spPr>
      </p:sp>
      <p:sp>
        <p:nvSpPr>
          <p:cNvPr id="14" name="Text 12"/>
          <p:cNvSpPr txBox="1"/>
          <p:nvPr/>
        </p:nvSpPr>
        <p:spPr>
          <a:xfrm>
            <a:off x="822960" y="389534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5" name="Text 13"/>
          <p:cNvSpPr txBox="1"/>
          <p:nvPr/>
        </p:nvSpPr>
        <p:spPr>
          <a:xfrm>
            <a:off x="1371600" y="3803904"/>
            <a:ext cx="7315200" cy="566928"/>
          </a:xfrm>
          <a:prstGeom prst="rect">
            <a:avLst/>
          </a:prstGeom>
          <a:noFill/>
          <a:ln/>
        </p:spPr>
        <p:txBody>
          <a:bodyPr wrap="square" lIns="0" tIns="0" rIns="0" bIns="0" rtlCol="0" anchor="ctr"/>
          <a:lstStyle/>
          <a:p>
            <a:pPr indent="0" marL="0">
              <a:buNone/>
            </a:pPr>
            <a:r>
              <a:rPr lang="en-US" sz="1500" dirty="0">
                <a:solidFill>
                  <a:srgbClr val="1F4235"/>
                </a:solidFill>
                <a:latin typeface="Palatino" pitchFamily="34" charset="0"/>
                <a:ea typeface="Palatino" pitchFamily="34" charset="-122"/>
                <a:cs typeface="Palatino" pitchFamily="34" charset="-120"/>
              </a:rPr>
              <a:t>Recently renovated homes sell for more than comparable ones never renovated — and old renovations show no premium.</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046720" cy="237744"/>
          </a:xfrm>
          <a:prstGeom prst="rect">
            <a:avLst/>
          </a:prstGeom>
          <a:noFill/>
          <a:ln/>
        </p:spPr>
        <p:txBody>
          <a:bodyPr wrap="square" lIns="0" tIns="0" rIns="0" bIns="0" rtlCol="0" anchor="ctr"/>
          <a:lstStyle/>
          <a:p>
            <a:pPr indent="0" marL="0">
              <a:buNone/>
            </a:pPr>
            <a:r>
              <a:rPr lang="en-US" sz="1100" b="1" spc="200" kern="0" dirty="0">
                <a:solidFill>
                  <a:srgbClr val="D97A34"/>
                </a:solidFill>
                <a:latin typeface="Arial" pitchFamily="34" charset="0"/>
                <a:ea typeface="Arial" pitchFamily="34" charset="-122"/>
                <a:cs typeface="Arial" pitchFamily="34" charset="-120"/>
              </a:rPr>
              <a:t>QUESTION 1 — WHEN TO SELL</a:t>
            </a:r>
            <a:endParaRPr lang="en-US" sz="1100" dirty="0"/>
          </a:p>
        </p:txBody>
      </p:sp>
      <p:sp>
        <p:nvSpPr>
          <p:cNvPr id="3" name="Text 1"/>
          <p:cNvSpPr txBox="1"/>
          <p:nvPr/>
        </p:nvSpPr>
        <p:spPr>
          <a:xfrm>
            <a:off x="548640" y="603504"/>
            <a:ext cx="8046720" cy="566928"/>
          </a:xfrm>
          <a:prstGeom prst="rect">
            <a:avLst/>
          </a:prstGeom>
          <a:noFill/>
          <a:ln/>
        </p:spPr>
        <p:txBody>
          <a:bodyPr wrap="square" lIns="0" tIns="0" rIns="0" bIns="0" rtlCol="0" anchor="ctr"/>
          <a:lstStyle/>
          <a:p>
            <a:pPr indent="0" marL="0">
              <a:buNone/>
            </a:pPr>
            <a:r>
              <a:rPr lang="en-US" sz="3200" b="1" dirty="0">
                <a:solidFill>
                  <a:srgbClr val="1F4235"/>
                </a:solidFill>
                <a:latin typeface="Palatino" pitchFamily="34" charset="0"/>
                <a:ea typeface="Palatino" pitchFamily="34" charset="-122"/>
                <a:cs typeface="Palatino" pitchFamily="34" charset="-120"/>
              </a:rPr>
              <a:t>April sells. December does not.</a:t>
            </a:r>
            <a:endParaRPr lang="en-US" sz="3200" dirty="0"/>
          </a:p>
        </p:txBody>
      </p:sp>
      <p:sp>
        <p:nvSpPr>
          <p:cNvPr id="4" name="Shape 2"/>
          <p:cNvSpPr/>
          <p:nvPr/>
        </p:nvSpPr>
        <p:spPr>
          <a:xfrm>
            <a:off x="6903720" y="292608"/>
            <a:ext cx="1691640" cy="329184"/>
          </a:xfrm>
          <a:prstGeom prst="roundRect">
            <a:avLst>
              <a:gd name="adj" fmla="val 138889"/>
            </a:avLst>
          </a:prstGeom>
          <a:solidFill>
            <a:srgbClr val="1F4235"/>
          </a:solidFill>
          <a:ln w="12700">
            <a:solidFill>
              <a:srgbClr val="1F4235"/>
            </a:solidFill>
            <a:prstDash val="solid"/>
          </a:ln>
        </p:spPr>
      </p:sp>
      <p:sp>
        <p:nvSpPr>
          <p:cNvPr id="5" name="Text 3"/>
          <p:cNvSpPr txBox="1"/>
          <p:nvPr/>
        </p:nvSpPr>
        <p:spPr>
          <a:xfrm>
            <a:off x="6903720" y="292608"/>
            <a:ext cx="169164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Arial" pitchFamily="34" charset="0"/>
                <a:ea typeface="Arial" pitchFamily="34" charset="-122"/>
                <a:cs typeface="Arial" pitchFamily="34" charset="-120"/>
              </a:rPr>
              <a:t>SUPPORTED</a:t>
            </a:r>
            <a:endParaRPr lang="en-US" sz="1000" dirty="0"/>
          </a:p>
        </p:txBody>
      </p:sp>
      <p:pic>
        <p:nvPicPr>
          <p:cNvPr id="6" name="Image 0" descr="images/timing.png">    </p:cNvPr>
          <p:cNvPicPr>
            <a:picLocks noChangeAspect="1"/>
          </p:cNvPicPr>
          <p:nvPr/>
        </p:nvPicPr>
        <p:blipFill>
          <a:blip r:embed="rId1"/>
          <a:stretch>
            <a:fillRect/>
          </a:stretch>
        </p:blipFill>
        <p:spPr>
          <a:xfrm>
            <a:off x="548640" y="1280160"/>
            <a:ext cx="5760720" cy="3483864"/>
          </a:xfrm>
          <a:prstGeom prst="rect">
            <a:avLst/>
          </a:prstGeom>
        </p:spPr>
      </p:pic>
      <p:sp>
        <p:nvSpPr>
          <p:cNvPr id="7" name="Shape 4"/>
          <p:cNvSpPr/>
          <p:nvPr/>
        </p:nvSpPr>
        <p:spPr>
          <a:xfrm>
            <a:off x="6537960" y="1280160"/>
            <a:ext cx="2057400" cy="1371600"/>
          </a:xfrm>
          <a:prstGeom prst="roundRect">
            <a:avLst>
              <a:gd name="adj" fmla="val 5333"/>
            </a:avLst>
          </a:prstGeom>
          <a:solidFill>
            <a:srgbClr val="1F4235"/>
          </a:solidFill>
          <a:ln w="12700">
            <a:solidFill>
              <a:srgbClr val="1F4235"/>
            </a:solidFill>
            <a:prstDash val="solid"/>
          </a:ln>
        </p:spPr>
      </p:sp>
      <p:sp>
        <p:nvSpPr>
          <p:cNvPr id="8" name="Text 5"/>
          <p:cNvSpPr txBox="1"/>
          <p:nvPr/>
        </p:nvSpPr>
        <p:spPr>
          <a:xfrm>
            <a:off x="6720840" y="1417320"/>
            <a:ext cx="1737360" cy="640080"/>
          </a:xfrm>
          <a:prstGeom prst="rect">
            <a:avLst/>
          </a:prstGeom>
          <a:noFill/>
          <a:ln/>
        </p:spPr>
        <p:txBody>
          <a:bodyPr wrap="square" lIns="0" tIns="0" rIns="0" bIns="0" rtlCol="0" anchor="ctr"/>
          <a:lstStyle/>
          <a:p>
            <a:pPr indent="0" marL="0">
              <a:buNone/>
            </a:pPr>
            <a:r>
              <a:rPr lang="en-US" sz="3400" b="1" dirty="0">
                <a:solidFill>
                  <a:srgbClr val="D97A34"/>
                </a:solidFill>
                <a:latin typeface="Palatino" pitchFamily="34" charset="0"/>
                <a:ea typeface="Palatino" pitchFamily="34" charset="-122"/>
                <a:cs typeface="Palatino" pitchFamily="34" charset="-120"/>
              </a:rPr>
              <a:t>+11%</a:t>
            </a:r>
            <a:endParaRPr lang="en-US" sz="3400" dirty="0"/>
          </a:p>
        </p:txBody>
      </p:sp>
      <p:sp>
        <p:nvSpPr>
          <p:cNvPr id="9" name="Text 6"/>
          <p:cNvSpPr txBox="1"/>
          <p:nvPr/>
        </p:nvSpPr>
        <p:spPr>
          <a:xfrm>
            <a:off x="6720840" y="2103120"/>
            <a:ext cx="1737360" cy="411480"/>
          </a:xfrm>
          <a:prstGeom prst="rect">
            <a:avLst/>
          </a:prstGeom>
          <a:noFill/>
          <a:ln/>
        </p:spPr>
        <p:txBody>
          <a:bodyPr wrap="square" lIns="0" tIns="0" rIns="0" bIns="0" rtlCol="0" anchor="ctr"/>
          <a:lstStyle/>
          <a:p>
            <a:pPr indent="0" marL="0">
              <a:buNone/>
            </a:pPr>
            <a:r>
              <a:rPr lang="en-US" sz="1100" dirty="0">
                <a:solidFill>
                  <a:srgbClr val="A8C6B4"/>
                </a:solidFill>
                <a:latin typeface="Arial" pitchFamily="34" charset="0"/>
                <a:ea typeface="Arial" pitchFamily="34" charset="-122"/>
                <a:cs typeface="Arial" pitchFamily="34" charset="-120"/>
              </a:rPr>
              <a:t>April over December</a:t>
            </a:r>
            <a:endParaRPr lang="en-US" sz="1100" dirty="0"/>
          </a:p>
        </p:txBody>
      </p:sp>
      <p:sp>
        <p:nvSpPr>
          <p:cNvPr id="10" name="Text 7"/>
          <p:cNvSpPr txBox="1"/>
          <p:nvPr/>
        </p:nvSpPr>
        <p:spPr>
          <a:xfrm>
            <a:off x="6537960" y="2926080"/>
            <a:ext cx="2057400" cy="566928"/>
          </a:xfrm>
          <a:prstGeom prst="rect">
            <a:avLst/>
          </a:prstGeom>
          <a:noFill/>
          <a:ln/>
        </p:spPr>
        <p:txBody>
          <a:bodyPr wrap="square" lIns="0" tIns="0" rIns="0" bIns="0" rtlCol="0" anchor="ctr"/>
          <a:lstStyle/>
          <a:p>
            <a:pPr indent="0" marL="0">
              <a:buNone/>
            </a:pPr>
            <a:r>
              <a:rPr lang="en-US" sz="2600" b="1" dirty="0">
                <a:solidFill>
                  <a:srgbClr val="1F4235"/>
                </a:solidFill>
                <a:latin typeface="Palatino" pitchFamily="34" charset="0"/>
                <a:ea typeface="Palatino" pitchFamily="34" charset="-122"/>
                <a:cs typeface="Palatino" pitchFamily="34" charset="-120"/>
              </a:rPr>
              <a:t>$260</a:t>
            </a:r>
            <a:endParaRPr lang="en-US" sz="2600" dirty="0"/>
          </a:p>
        </p:txBody>
      </p:sp>
      <p:sp>
        <p:nvSpPr>
          <p:cNvPr id="11" name="Text 8"/>
          <p:cNvSpPr txBox="1"/>
          <p:nvPr/>
        </p:nvSpPr>
        <p:spPr>
          <a:xfrm>
            <a:off x="6537960" y="3474720"/>
            <a:ext cx="2057400" cy="384048"/>
          </a:xfrm>
          <a:prstGeom prst="rect">
            <a:avLst/>
          </a:prstGeom>
          <a:noFill/>
          <a:ln/>
        </p:spPr>
        <p:txBody>
          <a:bodyPr wrap="square" lIns="0" tIns="0" rIns="0" bIns="0" rtlCol="0" anchor="ctr"/>
          <a:lstStyle/>
          <a:p>
            <a:pPr indent="0" marL="0">
              <a:buNone/>
            </a:pPr>
            <a:r>
              <a:rPr lang="en-US" sz="1100" dirty="0">
                <a:solidFill>
                  <a:srgbClr val="5A6B63"/>
                </a:solidFill>
                <a:latin typeface="Arial" pitchFamily="34" charset="0"/>
                <a:ea typeface="Arial" pitchFamily="34" charset="-122"/>
                <a:cs typeface="Arial" pitchFamily="34" charset="-120"/>
              </a:rPr>
              <a:t>median sqft in April</a:t>
            </a:r>
            <a:endParaRPr lang="en-US" sz="1100" dirty="0"/>
          </a:p>
        </p:txBody>
      </p:sp>
      <p:sp>
        <p:nvSpPr>
          <p:cNvPr id="12" name="Text 9"/>
          <p:cNvSpPr txBox="1"/>
          <p:nvPr/>
        </p:nvSpPr>
        <p:spPr>
          <a:xfrm>
            <a:off x="6537960" y="3794760"/>
            <a:ext cx="2057400" cy="566928"/>
          </a:xfrm>
          <a:prstGeom prst="rect">
            <a:avLst/>
          </a:prstGeom>
          <a:noFill/>
          <a:ln/>
        </p:spPr>
        <p:txBody>
          <a:bodyPr wrap="square" lIns="0" tIns="0" rIns="0" bIns="0" rtlCol="0" anchor="ctr"/>
          <a:lstStyle/>
          <a:p>
            <a:pPr indent="0" marL="0">
              <a:buNone/>
            </a:pPr>
            <a:r>
              <a:rPr lang="en-US" sz="2600" b="1" dirty="0">
                <a:solidFill>
                  <a:srgbClr val="1F4235"/>
                </a:solidFill>
                <a:latin typeface="Palatino" pitchFamily="34" charset="0"/>
                <a:ea typeface="Palatino" pitchFamily="34" charset="-122"/>
                <a:cs typeface="Palatino" pitchFamily="34" charset="-120"/>
              </a:rPr>
              <a:t>$233</a:t>
            </a:r>
            <a:endParaRPr lang="en-US" sz="2600" dirty="0"/>
          </a:p>
        </p:txBody>
      </p:sp>
      <p:sp>
        <p:nvSpPr>
          <p:cNvPr id="13" name="Text 10"/>
          <p:cNvSpPr txBox="1"/>
          <p:nvPr/>
        </p:nvSpPr>
        <p:spPr>
          <a:xfrm>
            <a:off x="6537960" y="4343400"/>
            <a:ext cx="2057400" cy="384048"/>
          </a:xfrm>
          <a:prstGeom prst="rect">
            <a:avLst/>
          </a:prstGeom>
          <a:noFill/>
          <a:ln/>
        </p:spPr>
        <p:txBody>
          <a:bodyPr wrap="square" lIns="0" tIns="0" rIns="0" bIns="0" rtlCol="0" anchor="ctr"/>
          <a:lstStyle/>
          <a:p>
            <a:pPr indent="0" marL="0">
              <a:buNone/>
            </a:pPr>
            <a:r>
              <a:rPr lang="en-US" sz="1100" dirty="0">
                <a:solidFill>
                  <a:srgbClr val="5A6B63"/>
                </a:solidFill>
                <a:latin typeface="Arial" pitchFamily="34" charset="0"/>
                <a:ea typeface="Arial" pitchFamily="34" charset="-122"/>
                <a:cs typeface="Arial" pitchFamily="34" charset="-120"/>
              </a:rPr>
              <a:t>median sqft in December</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046720" cy="237744"/>
          </a:xfrm>
          <a:prstGeom prst="rect">
            <a:avLst/>
          </a:prstGeom>
          <a:noFill/>
          <a:ln/>
        </p:spPr>
        <p:txBody>
          <a:bodyPr wrap="square" lIns="0" tIns="0" rIns="0" bIns="0" rtlCol="0" anchor="ctr"/>
          <a:lstStyle/>
          <a:p>
            <a:pPr indent="0" marL="0">
              <a:buNone/>
            </a:pPr>
            <a:r>
              <a:rPr lang="en-US" sz="1100" b="1" spc="200" kern="0" dirty="0">
                <a:solidFill>
                  <a:srgbClr val="D97A34"/>
                </a:solidFill>
                <a:latin typeface="Arial" pitchFamily="34" charset="0"/>
                <a:ea typeface="Arial" pitchFamily="34" charset="-122"/>
                <a:cs typeface="Arial" pitchFamily="34" charset="-120"/>
              </a:rPr>
              <a:t>QUESTION 2 — WHERE THE VALUE IS</a:t>
            </a:r>
            <a:endParaRPr lang="en-US" sz="1100" dirty="0"/>
          </a:p>
        </p:txBody>
      </p:sp>
      <p:sp>
        <p:nvSpPr>
          <p:cNvPr id="3" name="Text 1"/>
          <p:cNvSpPr txBox="1"/>
          <p:nvPr/>
        </p:nvSpPr>
        <p:spPr>
          <a:xfrm>
            <a:off x="548640" y="603504"/>
            <a:ext cx="8046720" cy="566928"/>
          </a:xfrm>
          <a:prstGeom prst="rect">
            <a:avLst/>
          </a:prstGeom>
          <a:noFill/>
          <a:ln/>
        </p:spPr>
        <p:txBody>
          <a:bodyPr wrap="square" lIns="0" tIns="0" rIns="0" bIns="0" rtlCol="0" anchor="ctr"/>
          <a:lstStyle/>
          <a:p>
            <a:pPr indent="0" marL="0">
              <a:buNone/>
            </a:pPr>
            <a:r>
              <a:rPr lang="en-US" sz="3200" b="1" dirty="0">
                <a:solidFill>
                  <a:srgbClr val="1F4235"/>
                </a:solidFill>
                <a:latin typeface="Palatino" pitchFamily="34" charset="0"/>
                <a:ea typeface="Palatino" pitchFamily="34" charset="-122"/>
                <a:cs typeface="Palatino" pitchFamily="34" charset="-120"/>
              </a:rPr>
              <a:t>The map does the talking</a:t>
            </a:r>
            <a:endParaRPr lang="en-US" sz="3200" dirty="0"/>
          </a:p>
        </p:txBody>
      </p:sp>
      <p:sp>
        <p:nvSpPr>
          <p:cNvPr id="4" name="Shape 2"/>
          <p:cNvSpPr/>
          <p:nvPr/>
        </p:nvSpPr>
        <p:spPr>
          <a:xfrm>
            <a:off x="6903720" y="292608"/>
            <a:ext cx="1691640" cy="329184"/>
          </a:xfrm>
          <a:prstGeom prst="roundRect">
            <a:avLst>
              <a:gd name="adj" fmla="val 138889"/>
            </a:avLst>
          </a:prstGeom>
          <a:solidFill>
            <a:srgbClr val="1F4235"/>
          </a:solidFill>
          <a:ln w="12700">
            <a:solidFill>
              <a:srgbClr val="1F4235"/>
            </a:solidFill>
            <a:prstDash val="solid"/>
          </a:ln>
        </p:spPr>
      </p:sp>
      <p:sp>
        <p:nvSpPr>
          <p:cNvPr id="5" name="Text 3"/>
          <p:cNvSpPr txBox="1"/>
          <p:nvPr/>
        </p:nvSpPr>
        <p:spPr>
          <a:xfrm>
            <a:off x="6903720" y="292608"/>
            <a:ext cx="169164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Arial" pitchFamily="34" charset="0"/>
                <a:ea typeface="Arial" pitchFamily="34" charset="-122"/>
                <a:cs typeface="Arial" pitchFamily="34" charset="-120"/>
              </a:rPr>
              <a:t>SUPPORTED</a:t>
            </a:r>
            <a:endParaRPr lang="en-US" sz="1000" dirty="0"/>
          </a:p>
        </p:txBody>
      </p:sp>
      <p:pic>
        <p:nvPicPr>
          <p:cNvPr id="6" name="Image 0" descr="images/map.png">    </p:cNvPr>
          <p:cNvPicPr>
            <a:picLocks noChangeAspect="1"/>
          </p:cNvPicPr>
          <p:nvPr/>
        </p:nvPicPr>
        <p:blipFill>
          <a:blip r:embed="rId1"/>
          <a:stretch>
            <a:fillRect/>
          </a:stretch>
        </p:blipFill>
        <p:spPr>
          <a:xfrm>
            <a:off x="548640" y="1234440"/>
            <a:ext cx="3931920" cy="3621024"/>
          </a:xfrm>
          <a:prstGeom prst="rect">
            <a:avLst/>
          </a:prstGeom>
        </p:spPr>
      </p:pic>
      <p:sp>
        <p:nvSpPr>
          <p:cNvPr id="7" name="Text 4"/>
          <p:cNvSpPr txBox="1"/>
          <p:nvPr/>
        </p:nvSpPr>
        <p:spPr>
          <a:xfrm>
            <a:off x="4709160" y="1371600"/>
            <a:ext cx="1920240" cy="731520"/>
          </a:xfrm>
          <a:prstGeom prst="rect">
            <a:avLst/>
          </a:prstGeom>
          <a:noFill/>
          <a:ln/>
        </p:spPr>
        <p:txBody>
          <a:bodyPr wrap="square" lIns="0" tIns="0" rIns="0" bIns="0" rtlCol="0" anchor="ctr"/>
          <a:lstStyle/>
          <a:p>
            <a:pPr indent="0" marL="0">
              <a:buNone/>
            </a:pPr>
            <a:r>
              <a:rPr lang="en-US" sz="4200" b="1" dirty="0">
                <a:solidFill>
                  <a:srgbClr val="D97A34"/>
                </a:solidFill>
                <a:latin typeface="Palatino" pitchFamily="34" charset="0"/>
                <a:ea typeface="Palatino" pitchFamily="34" charset="-122"/>
                <a:cs typeface="Palatino" pitchFamily="34" charset="-120"/>
              </a:rPr>
              <a:t>2.76x</a:t>
            </a:r>
            <a:endParaRPr lang="en-US" sz="4200" dirty="0"/>
          </a:p>
        </p:txBody>
      </p:sp>
      <p:sp>
        <p:nvSpPr>
          <p:cNvPr id="8" name="Text 5"/>
          <p:cNvSpPr txBox="1"/>
          <p:nvPr/>
        </p:nvSpPr>
        <p:spPr>
          <a:xfrm>
            <a:off x="4709160" y="2103120"/>
            <a:ext cx="1920240" cy="548640"/>
          </a:xfrm>
          <a:prstGeom prst="rect">
            <a:avLst/>
          </a:prstGeom>
          <a:noFill/>
          <a:ln/>
        </p:spPr>
        <p:txBody>
          <a:bodyPr wrap="square" lIns="0" tIns="0" rIns="0" bIns="0" rtlCol="0" anchor="ctr"/>
          <a:lstStyle/>
          <a:p>
            <a:pPr indent="0" marL="0">
              <a:buNone/>
            </a:pPr>
            <a:r>
              <a:rPr lang="en-US" sz="1150" dirty="0">
                <a:solidFill>
                  <a:srgbClr val="5A6B63"/>
                </a:solidFill>
                <a:latin typeface="Arial" pitchFamily="34" charset="0"/>
                <a:ea typeface="Arial" pitchFamily="34" charset="-122"/>
                <a:cs typeface="Arial" pitchFamily="34" charset="-120"/>
              </a:rPr>
              <a:t>top ten zipcodes over</a:t>
            </a:r>
            <a:endParaRPr lang="en-US" sz="1150" dirty="0"/>
          </a:p>
          <a:p>
            <a:pPr indent="0" marL="0">
              <a:buNone/>
            </a:pPr>
            <a:r>
              <a:rPr lang="en-US" sz="1150" dirty="0">
                <a:solidFill>
                  <a:srgbClr val="5A6B63"/>
                </a:solidFill>
                <a:latin typeface="Arial" pitchFamily="34" charset="0"/>
                <a:ea typeface="Arial" pitchFamily="34" charset="-122"/>
                <a:cs typeface="Arial" pitchFamily="34" charset="-120"/>
              </a:rPr>
              <a:t>the bottom ten</a:t>
            </a:r>
            <a:endParaRPr lang="en-US" sz="11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309360" y="1234440"/>
          <a:ext cx="2286000" cy="914400"/>
        </p:xfrm>
        <a:graphic>
          <a:graphicData uri="http://schemas.openxmlformats.org/drawingml/2006/table">
            <a:tbl>
              <a:tblPr/>
              <a:tblGrid>
                <a:gridCol w="1600200"/>
                <a:gridCol w="685800"/>
              </a:tblGrid>
              <a:tr h="265176">
                <a:tc>
                  <a:txBody>
                    <a:bodyPr/>
                    <a:lstStyle/>
                    <a:p>
                      <a:pPr indent="0" marL="0">
                        <a:buNone/>
                      </a:pPr>
                      <a:r>
                        <a:rPr lang="en-US" sz="1150" b="1" dirty="0">
                          <a:solidFill>
                            <a:srgbClr val="FFFFFF"/>
                          </a:solidFill>
                          <a:latin typeface="Arial" pitchFamily="34" charset="0"/>
                          <a:ea typeface="Arial" pitchFamily="34" charset="-122"/>
                          <a:cs typeface="Arial" pitchFamily="34" charset="-120"/>
                        </a:rPr>
                        <a:t>Highest</a:t>
                      </a:r>
                      <a:endParaRPr lang="en-US" sz="1150" dirty="0">
                        <a:latin typeface="Arial" charset="0"/>
                        <a:ea typeface="Arial" charset="0"/>
                        <a:cs typeface="Arial" charset="0"/>
                      </a:endParaRPr>
                    </a:p>
                  </a:txBody>
                  <a:tcPr marL="91440" marR="91440" marT="45720" marB="45720" anchor="ctr">
                    <a:lnL w="6350" cap="flat" cmpd="sng" algn="ctr">
                      <a:solidFill>
                        <a:srgbClr val="D6E2D9"/>
                      </a:solidFill>
                      <a:prstDash val="solid"/>
                      <a:round/>
                      <a:headEnd type="none" w="med" len="med"/>
                      <a:tailEnd type="none" w="med" len="med"/>
                    </a:lnL>
                    <a:lnR w="6350" cap="flat" cmpd="sng" algn="ctr">
                      <a:solidFill>
                        <a:srgbClr val="D6E2D9"/>
                      </a:solidFill>
                      <a:prstDash val="solid"/>
                      <a:round/>
                      <a:headEnd type="none" w="med" len="med"/>
                      <a:tailEnd type="none" w="med" len="med"/>
                    </a:lnR>
                    <a:lnT w="6350" cap="flat" cmpd="sng" algn="ctr">
                      <a:solidFill>
                        <a:srgbClr val="D6E2D9"/>
                      </a:solidFill>
                      <a:prstDash val="solid"/>
                      <a:round/>
                      <a:headEnd type="none" w="med" len="med"/>
                      <a:tailEnd type="none" w="med" len="med"/>
                    </a:lnT>
                    <a:lnB w="6350" cap="flat" cmpd="sng" algn="ctr">
                      <a:solidFill>
                        <a:srgbClr val="D6E2D9"/>
                      </a:solidFill>
                      <a:prstDash val="solid"/>
                      <a:round/>
                      <a:headEnd type="none" w="med" len="med"/>
                      <a:tailEnd type="none" w="med" len="med"/>
                    </a:lnB>
                    <a:solidFill>
                      <a:srgbClr val="1F4235"/>
                    </a:solidFill>
                  </a:tcPr>
                </a:tc>
                <a:tc>
                  <a:txBody>
                    <a:bodyPr/>
                    <a:lstStyle/>
                    <a:p>
                      <a:pPr algn="r" indent="0" marL="0">
                        <a:buNone/>
                      </a:pPr>
                      <a:r>
                        <a:rPr lang="en-US" sz="1150" b="1" dirty="0">
                          <a:solidFill>
                            <a:srgbClr val="FFFFFF"/>
                          </a:solidFill>
                          <a:latin typeface="Arial" pitchFamily="34" charset="0"/>
                          <a:ea typeface="Arial" pitchFamily="34" charset="-122"/>
                          <a:cs typeface="Arial" pitchFamily="34" charset="-120"/>
                        </a:rPr>
                        <a:t>$/sqft</a:t>
                      </a:r>
                      <a:endParaRPr lang="en-US" sz="1150" dirty="0">
                        <a:latin typeface="Arial" charset="0"/>
                        <a:ea typeface="Arial" charset="0"/>
                        <a:cs typeface="Arial" charset="0"/>
                      </a:endParaRPr>
                    </a:p>
                  </a:txBody>
                  <a:tcPr marL="91440" marR="91440" marT="45720" marB="45720" anchor="ctr">
                    <a:lnL w="6350" cap="flat" cmpd="sng" algn="ctr">
                      <a:solidFill>
                        <a:srgbClr val="D6E2D9"/>
                      </a:solidFill>
                      <a:prstDash val="solid"/>
                      <a:round/>
                      <a:headEnd type="none" w="med" len="med"/>
                      <a:tailEnd type="none" w="med" len="med"/>
                    </a:lnL>
                    <a:lnR w="6350" cap="flat" cmpd="sng" algn="ctr">
                      <a:solidFill>
                        <a:srgbClr val="D6E2D9"/>
                      </a:solidFill>
                      <a:prstDash val="solid"/>
                      <a:round/>
                      <a:headEnd type="none" w="med" len="med"/>
                      <a:tailEnd type="none" w="med" len="med"/>
                    </a:lnR>
                    <a:lnT w="6350" cap="flat" cmpd="sng" algn="ctr">
                      <a:solidFill>
                        <a:srgbClr val="D6E2D9"/>
                      </a:solidFill>
                      <a:prstDash val="solid"/>
                      <a:round/>
                      <a:headEnd type="none" w="med" len="med"/>
                      <a:tailEnd type="none" w="med" len="med"/>
                    </a:lnT>
                    <a:lnB w="6350" cap="flat" cmpd="sng" algn="ctr">
                      <a:solidFill>
                        <a:srgbClr val="D6E2D9"/>
                      </a:solidFill>
                      <a:prstDash val="solid"/>
                      <a:round/>
                      <a:headEnd type="none" w="med" len="med"/>
                      <a:tailEnd type="none" w="med" len="med"/>
                    </a:lnB>
                    <a:solidFill>
                      <a:srgbClr val="1F4235"/>
                    </a:solidFill>
                  </a:tcPr>
                </a:tc>
              </a:tr>
              <a:tr h="265176">
                <a:tc>
                  <a:txBody>
                    <a:bodyPr/>
                    <a:lstStyle/>
                    <a:p>
                      <a:pPr indent="0" marL="0">
                        <a:buNone/>
                      </a:pPr>
                      <a:r>
                        <a:rPr lang="en-US" sz="1050" dirty="0">
                          <a:solidFill>
                            <a:srgbClr val="1F4235"/>
                          </a:solidFill>
                          <a:latin typeface="Arial" pitchFamily="34" charset="0"/>
                          <a:ea typeface="Arial" pitchFamily="34" charset="-122"/>
                          <a:cs typeface="Arial" pitchFamily="34" charset="-120"/>
                        </a:rPr>
                        <a:t>Medina  98039</a:t>
                      </a:r>
                      <a:endParaRPr lang="en-US" sz="1050" dirty="0">
                        <a:latin typeface="Arial" charset="0"/>
                        <a:ea typeface="Arial" charset="0"/>
                        <a:cs typeface="Arial" charset="0"/>
                      </a:endParaRPr>
                    </a:p>
                  </a:txBody>
                  <a:tcPr marL="91440" marR="91440" marT="45720" marB="45720" anchor="ctr">
                    <a:lnL w="6350" cap="flat" cmpd="sng" algn="ctr">
                      <a:solidFill>
                        <a:srgbClr val="D6E2D9"/>
                      </a:solidFill>
                      <a:prstDash val="solid"/>
                      <a:round/>
                      <a:headEnd type="none" w="med" len="med"/>
                      <a:tailEnd type="none" w="med" len="med"/>
                    </a:lnL>
                    <a:lnR w="6350" cap="flat" cmpd="sng" algn="ctr">
                      <a:solidFill>
                        <a:srgbClr val="D6E2D9"/>
                      </a:solidFill>
                      <a:prstDash val="solid"/>
                      <a:round/>
                      <a:headEnd type="none" w="med" len="med"/>
                      <a:tailEnd type="none" w="med" len="med"/>
                    </a:lnR>
                    <a:lnT w="6350" cap="flat" cmpd="sng" algn="ctr">
                      <a:solidFill>
                        <a:srgbClr val="D6E2D9"/>
                      </a:solidFill>
                      <a:prstDash val="solid"/>
                      <a:round/>
                      <a:headEnd type="none" w="med" len="med"/>
                      <a:tailEnd type="none" w="med" len="med"/>
                    </a:lnT>
                    <a:lnB w="6350" cap="flat" cmpd="sng" algn="ctr">
                      <a:solidFill>
                        <a:srgbClr val="D6E2D9"/>
                      </a:solidFill>
                      <a:prstDash val="solid"/>
                      <a:round/>
                      <a:headEnd type="none" w="med" len="med"/>
                      <a:tailEnd type="none" w="med" len="med"/>
                    </a:lnB>
                  </a:tcPr>
                </a:tc>
                <a:tc>
                  <a:txBody>
                    <a:bodyPr/>
                    <a:lstStyle/>
                    <a:p>
                      <a:pPr algn="r" indent="0" marL="0">
                        <a:buNone/>
                      </a:pPr>
                      <a:r>
                        <a:rPr lang="en-US" sz="1050" dirty="0">
                          <a:solidFill>
                            <a:srgbClr val="1F4235"/>
                          </a:solidFill>
                          <a:latin typeface="Arial" pitchFamily="34" charset="0"/>
                          <a:ea typeface="Arial" pitchFamily="34" charset="-122"/>
                          <a:cs typeface="Arial" pitchFamily="34" charset="-120"/>
                        </a:rPr>
                        <a:t>565</a:t>
                      </a:r>
                      <a:endParaRPr lang="en-US" sz="1050" dirty="0">
                        <a:latin typeface="Arial" charset="0"/>
                        <a:ea typeface="Arial" charset="0"/>
                        <a:cs typeface="Arial" charset="0"/>
                      </a:endParaRPr>
                    </a:p>
                  </a:txBody>
                  <a:tcPr marL="91440" marR="91440" marT="45720" marB="45720" anchor="ctr">
                    <a:lnL w="6350" cap="flat" cmpd="sng" algn="ctr">
                      <a:solidFill>
                        <a:srgbClr val="D6E2D9"/>
                      </a:solidFill>
                      <a:prstDash val="solid"/>
                      <a:round/>
                      <a:headEnd type="none" w="med" len="med"/>
                      <a:tailEnd type="none" w="med" len="med"/>
                    </a:lnL>
                    <a:lnR w="6350" cap="flat" cmpd="sng" algn="ctr">
                      <a:solidFill>
                        <a:srgbClr val="D6E2D9"/>
                      </a:solidFill>
                      <a:prstDash val="solid"/>
                      <a:round/>
                      <a:headEnd type="none" w="med" len="med"/>
                      <a:tailEnd type="none" w="med" len="med"/>
                    </a:lnR>
                    <a:lnT w="6350" cap="flat" cmpd="sng" algn="ctr">
                      <a:solidFill>
                        <a:srgbClr val="D6E2D9"/>
                      </a:solidFill>
                      <a:prstDash val="solid"/>
                      <a:round/>
                      <a:headEnd type="none" w="med" len="med"/>
                      <a:tailEnd type="none" w="med" len="med"/>
                    </a:lnT>
                    <a:lnB w="6350" cap="flat" cmpd="sng" algn="ctr">
                      <a:solidFill>
                        <a:srgbClr val="D6E2D9"/>
                      </a:solidFill>
                      <a:prstDash val="solid"/>
                      <a:round/>
                      <a:headEnd type="none" w="med" len="med"/>
                      <a:tailEnd type="none" w="med" len="med"/>
                    </a:lnB>
                  </a:tcPr>
                </a:tc>
              </a:tr>
              <a:tr h="265176">
                <a:tc>
                  <a:txBody>
                    <a:bodyPr/>
                    <a:lstStyle/>
                    <a:p>
                      <a:pPr indent="0" marL="0">
                        <a:buNone/>
                      </a:pPr>
                      <a:r>
                        <a:rPr lang="en-US" sz="1050" dirty="0">
                          <a:solidFill>
                            <a:srgbClr val="1F4235"/>
                          </a:solidFill>
                          <a:latin typeface="Arial" pitchFamily="34" charset="0"/>
                          <a:ea typeface="Arial" pitchFamily="34" charset="-122"/>
                          <a:cs typeface="Arial" pitchFamily="34" charset="-120"/>
                        </a:rPr>
                        <a:t>Bellevue  98004</a:t>
                      </a:r>
                      <a:endParaRPr lang="en-US" sz="1050" dirty="0">
                        <a:latin typeface="Arial" charset="0"/>
                        <a:ea typeface="Arial" charset="0"/>
                        <a:cs typeface="Arial" charset="0"/>
                      </a:endParaRPr>
                    </a:p>
                  </a:txBody>
                  <a:tcPr marL="91440" marR="91440" marT="45720" marB="45720" anchor="ctr">
                    <a:lnL w="6350" cap="flat" cmpd="sng" algn="ctr">
                      <a:solidFill>
                        <a:srgbClr val="D6E2D9"/>
                      </a:solidFill>
                      <a:prstDash val="solid"/>
                      <a:round/>
                      <a:headEnd type="none" w="med" len="med"/>
                      <a:tailEnd type="none" w="med" len="med"/>
                    </a:lnL>
                    <a:lnR w="6350" cap="flat" cmpd="sng" algn="ctr">
                      <a:solidFill>
                        <a:srgbClr val="D6E2D9"/>
                      </a:solidFill>
                      <a:prstDash val="solid"/>
                      <a:round/>
                      <a:headEnd type="none" w="med" len="med"/>
                      <a:tailEnd type="none" w="med" len="med"/>
                    </a:lnR>
                    <a:lnT w="6350" cap="flat" cmpd="sng" algn="ctr">
                      <a:solidFill>
                        <a:srgbClr val="D6E2D9"/>
                      </a:solidFill>
                      <a:prstDash val="solid"/>
                      <a:round/>
                      <a:headEnd type="none" w="med" len="med"/>
                      <a:tailEnd type="none" w="med" len="med"/>
                    </a:lnT>
                    <a:lnB w="6350" cap="flat" cmpd="sng" algn="ctr">
                      <a:solidFill>
                        <a:srgbClr val="D6E2D9"/>
                      </a:solidFill>
                      <a:prstDash val="solid"/>
                      <a:round/>
                      <a:headEnd type="none" w="med" len="med"/>
                      <a:tailEnd type="none" w="med" len="med"/>
                    </a:lnB>
                  </a:tcPr>
                </a:tc>
                <a:tc>
                  <a:txBody>
                    <a:bodyPr/>
                    <a:lstStyle/>
                    <a:p>
                      <a:pPr algn="r" indent="0" marL="0">
                        <a:buNone/>
                      </a:pPr>
                      <a:r>
                        <a:rPr lang="en-US" sz="1050" dirty="0">
                          <a:solidFill>
                            <a:srgbClr val="1F4235"/>
                          </a:solidFill>
                          <a:latin typeface="Arial" pitchFamily="34" charset="0"/>
                          <a:ea typeface="Arial" pitchFamily="34" charset="-122"/>
                          <a:cs typeface="Arial" pitchFamily="34" charset="-120"/>
                        </a:rPr>
                        <a:t>457</a:t>
                      </a:r>
                      <a:endParaRPr lang="en-US" sz="1050" dirty="0">
                        <a:latin typeface="Arial" charset="0"/>
                        <a:ea typeface="Arial" charset="0"/>
                        <a:cs typeface="Arial" charset="0"/>
                      </a:endParaRPr>
                    </a:p>
                  </a:txBody>
                  <a:tcPr marL="91440" marR="91440" marT="45720" marB="45720" anchor="ctr">
                    <a:lnL w="6350" cap="flat" cmpd="sng" algn="ctr">
                      <a:solidFill>
                        <a:srgbClr val="D6E2D9"/>
                      </a:solidFill>
                      <a:prstDash val="solid"/>
                      <a:round/>
                      <a:headEnd type="none" w="med" len="med"/>
                      <a:tailEnd type="none" w="med" len="med"/>
                    </a:lnL>
                    <a:lnR w="6350" cap="flat" cmpd="sng" algn="ctr">
                      <a:solidFill>
                        <a:srgbClr val="D6E2D9"/>
                      </a:solidFill>
                      <a:prstDash val="solid"/>
                      <a:round/>
                      <a:headEnd type="none" w="med" len="med"/>
                      <a:tailEnd type="none" w="med" len="med"/>
                    </a:lnR>
                    <a:lnT w="6350" cap="flat" cmpd="sng" algn="ctr">
                      <a:solidFill>
                        <a:srgbClr val="D6E2D9"/>
                      </a:solidFill>
                      <a:prstDash val="solid"/>
                      <a:round/>
                      <a:headEnd type="none" w="med" len="med"/>
                      <a:tailEnd type="none" w="med" len="med"/>
                    </a:lnT>
                    <a:lnB w="6350" cap="flat" cmpd="sng" algn="ctr">
                      <a:solidFill>
                        <a:srgbClr val="D6E2D9"/>
                      </a:solidFill>
                      <a:prstDash val="solid"/>
                      <a:round/>
                      <a:headEnd type="none" w="med" len="med"/>
                      <a:tailEnd type="none" w="med" len="med"/>
                    </a:lnB>
                  </a:tcPr>
                </a:tc>
              </a:tr>
              <a:tr h="265176">
                <a:tc>
                  <a:txBody>
                    <a:bodyPr/>
                    <a:lstStyle/>
                    <a:p>
                      <a:pPr indent="0" marL="0">
                        <a:buNone/>
                      </a:pPr>
                      <a:r>
                        <a:rPr lang="en-US" sz="1050" dirty="0">
                          <a:solidFill>
                            <a:srgbClr val="1F4235"/>
                          </a:solidFill>
                          <a:latin typeface="Arial" pitchFamily="34" charset="0"/>
                          <a:ea typeface="Arial" pitchFamily="34" charset="-122"/>
                          <a:cs typeface="Arial" pitchFamily="34" charset="-120"/>
                        </a:rPr>
                        <a:t>Queen Anne  98109</a:t>
                      </a:r>
                      <a:endParaRPr lang="en-US" sz="1050" dirty="0">
                        <a:latin typeface="Arial" charset="0"/>
                        <a:ea typeface="Arial" charset="0"/>
                        <a:cs typeface="Arial" charset="0"/>
                      </a:endParaRPr>
                    </a:p>
                  </a:txBody>
                  <a:tcPr marL="91440" marR="91440" marT="45720" marB="45720" anchor="ctr">
                    <a:lnL w="6350" cap="flat" cmpd="sng" algn="ctr">
                      <a:solidFill>
                        <a:srgbClr val="D6E2D9"/>
                      </a:solidFill>
                      <a:prstDash val="solid"/>
                      <a:round/>
                      <a:headEnd type="none" w="med" len="med"/>
                      <a:tailEnd type="none" w="med" len="med"/>
                    </a:lnL>
                    <a:lnR w="6350" cap="flat" cmpd="sng" algn="ctr">
                      <a:solidFill>
                        <a:srgbClr val="D6E2D9"/>
                      </a:solidFill>
                      <a:prstDash val="solid"/>
                      <a:round/>
                      <a:headEnd type="none" w="med" len="med"/>
                      <a:tailEnd type="none" w="med" len="med"/>
                    </a:lnR>
                    <a:lnT w="6350" cap="flat" cmpd="sng" algn="ctr">
                      <a:solidFill>
                        <a:srgbClr val="D6E2D9"/>
                      </a:solidFill>
                      <a:prstDash val="solid"/>
                      <a:round/>
                      <a:headEnd type="none" w="med" len="med"/>
                      <a:tailEnd type="none" w="med" len="med"/>
                    </a:lnT>
                    <a:lnB w="6350" cap="flat" cmpd="sng" algn="ctr">
                      <a:solidFill>
                        <a:srgbClr val="D6E2D9"/>
                      </a:solidFill>
                      <a:prstDash val="solid"/>
                      <a:round/>
                      <a:headEnd type="none" w="med" len="med"/>
                      <a:tailEnd type="none" w="med" len="med"/>
                    </a:lnB>
                  </a:tcPr>
                </a:tc>
                <a:tc>
                  <a:txBody>
                    <a:bodyPr/>
                    <a:lstStyle/>
                    <a:p>
                      <a:pPr algn="r" indent="0" marL="0">
                        <a:buNone/>
                      </a:pPr>
                      <a:r>
                        <a:rPr lang="en-US" sz="1050" dirty="0">
                          <a:solidFill>
                            <a:srgbClr val="1F4235"/>
                          </a:solidFill>
                          <a:latin typeface="Arial" pitchFamily="34" charset="0"/>
                          <a:ea typeface="Arial" pitchFamily="34" charset="-122"/>
                          <a:cs typeface="Arial" pitchFamily="34" charset="-120"/>
                        </a:rPr>
                        <a:t>428</a:t>
                      </a:r>
                      <a:endParaRPr lang="en-US" sz="1050" dirty="0">
                        <a:latin typeface="Arial" charset="0"/>
                        <a:ea typeface="Arial" charset="0"/>
                        <a:cs typeface="Arial" charset="0"/>
                      </a:endParaRPr>
                    </a:p>
                  </a:txBody>
                  <a:tcPr marL="91440" marR="91440" marT="45720" marB="45720" anchor="ctr">
                    <a:lnL w="6350" cap="flat" cmpd="sng" algn="ctr">
                      <a:solidFill>
                        <a:srgbClr val="D6E2D9"/>
                      </a:solidFill>
                      <a:prstDash val="solid"/>
                      <a:round/>
                      <a:headEnd type="none" w="med" len="med"/>
                      <a:tailEnd type="none" w="med" len="med"/>
                    </a:lnL>
                    <a:lnR w="6350" cap="flat" cmpd="sng" algn="ctr">
                      <a:solidFill>
                        <a:srgbClr val="D6E2D9"/>
                      </a:solidFill>
                      <a:prstDash val="solid"/>
                      <a:round/>
                      <a:headEnd type="none" w="med" len="med"/>
                      <a:tailEnd type="none" w="med" len="med"/>
                    </a:lnR>
                    <a:lnT w="6350" cap="flat" cmpd="sng" algn="ctr">
                      <a:solidFill>
                        <a:srgbClr val="D6E2D9"/>
                      </a:solidFill>
                      <a:prstDash val="solid"/>
                      <a:round/>
                      <a:headEnd type="none" w="med" len="med"/>
                      <a:tailEnd type="none" w="med" len="med"/>
                    </a:lnT>
                    <a:lnB w="6350" cap="flat" cmpd="sng" algn="ctr">
                      <a:solidFill>
                        <a:srgbClr val="D6E2D9"/>
                      </a:solidFill>
                      <a:prstDash val="solid"/>
                      <a:round/>
                      <a:headEnd type="none" w="med" len="med"/>
                      <a:tailEnd type="none" w="med" len="med"/>
                    </a:lnB>
                  </a:tcPr>
                </a:tc>
              </a:tr>
              <a:tr h="265176">
                <a:tc>
                  <a:txBody>
                    <a:bodyPr/>
                    <a:lstStyle/>
                    <a:p>
                      <a:pPr indent="0" marL="0">
                        <a:buNone/>
                      </a:pPr>
                      <a:r>
                        <a:rPr lang="en-US" sz="1150" b="1" dirty="0">
                          <a:solidFill>
                            <a:srgbClr val="FFFFFF"/>
                          </a:solidFill>
                          <a:latin typeface="Arial" pitchFamily="34" charset="0"/>
                          <a:ea typeface="Arial" pitchFamily="34" charset="-122"/>
                          <a:cs typeface="Arial" pitchFamily="34" charset="-120"/>
                        </a:rPr>
                        <a:t>Lowest</a:t>
                      </a:r>
                      <a:endParaRPr lang="en-US" sz="1150" dirty="0">
                        <a:latin typeface="Arial" charset="0"/>
                        <a:ea typeface="Arial" charset="0"/>
                        <a:cs typeface="Arial" charset="0"/>
                      </a:endParaRPr>
                    </a:p>
                  </a:txBody>
                  <a:tcPr marL="91440" marR="91440" marT="45720" marB="45720" anchor="ctr">
                    <a:lnL w="6350" cap="flat" cmpd="sng" algn="ctr">
                      <a:solidFill>
                        <a:srgbClr val="D6E2D9"/>
                      </a:solidFill>
                      <a:prstDash val="solid"/>
                      <a:round/>
                      <a:headEnd type="none" w="med" len="med"/>
                      <a:tailEnd type="none" w="med" len="med"/>
                    </a:lnL>
                    <a:lnR w="6350" cap="flat" cmpd="sng" algn="ctr">
                      <a:solidFill>
                        <a:srgbClr val="D6E2D9"/>
                      </a:solidFill>
                      <a:prstDash val="solid"/>
                      <a:round/>
                      <a:headEnd type="none" w="med" len="med"/>
                      <a:tailEnd type="none" w="med" len="med"/>
                    </a:lnR>
                    <a:lnT w="6350" cap="flat" cmpd="sng" algn="ctr">
                      <a:solidFill>
                        <a:srgbClr val="D6E2D9"/>
                      </a:solidFill>
                      <a:prstDash val="solid"/>
                      <a:round/>
                      <a:headEnd type="none" w="med" len="med"/>
                      <a:tailEnd type="none" w="med" len="med"/>
                    </a:lnT>
                    <a:lnB w="6350" cap="flat" cmpd="sng" algn="ctr">
                      <a:solidFill>
                        <a:srgbClr val="D6E2D9"/>
                      </a:solidFill>
                      <a:prstDash val="solid"/>
                      <a:round/>
                      <a:headEnd type="none" w="med" len="med"/>
                      <a:tailEnd type="none" w="med" len="med"/>
                    </a:lnB>
                    <a:solidFill>
                      <a:srgbClr val="5A6B63"/>
                    </a:solidFill>
                  </a:tcPr>
                </a:tc>
                <a:tc>
                  <a:txBody>
                    <a:bodyPr/>
                    <a:lstStyle/>
                    <a:p>
                      <a:pPr algn="r" indent="0" marL="0">
                        <a:buNone/>
                      </a:pPr>
                      <a:r>
                        <a:rPr lang="en-US" sz="1150" b="1" dirty="0">
                          <a:solidFill>
                            <a:srgbClr val="FFFFFF"/>
                          </a:solidFill>
                          <a:latin typeface="Arial" pitchFamily="34" charset="0"/>
                          <a:ea typeface="Arial" pitchFamily="34" charset="-122"/>
                          <a:cs typeface="Arial" pitchFamily="34" charset="-120"/>
                        </a:rPr>
                        <a:t>$/sqft</a:t>
                      </a:r>
                      <a:endParaRPr lang="en-US" sz="1150" dirty="0">
                        <a:latin typeface="Arial" charset="0"/>
                        <a:ea typeface="Arial" charset="0"/>
                        <a:cs typeface="Arial" charset="0"/>
                      </a:endParaRPr>
                    </a:p>
                  </a:txBody>
                  <a:tcPr marL="91440" marR="91440" marT="45720" marB="45720" anchor="ctr">
                    <a:lnL w="6350" cap="flat" cmpd="sng" algn="ctr">
                      <a:solidFill>
                        <a:srgbClr val="D6E2D9"/>
                      </a:solidFill>
                      <a:prstDash val="solid"/>
                      <a:round/>
                      <a:headEnd type="none" w="med" len="med"/>
                      <a:tailEnd type="none" w="med" len="med"/>
                    </a:lnL>
                    <a:lnR w="6350" cap="flat" cmpd="sng" algn="ctr">
                      <a:solidFill>
                        <a:srgbClr val="D6E2D9"/>
                      </a:solidFill>
                      <a:prstDash val="solid"/>
                      <a:round/>
                      <a:headEnd type="none" w="med" len="med"/>
                      <a:tailEnd type="none" w="med" len="med"/>
                    </a:lnR>
                    <a:lnT w="6350" cap="flat" cmpd="sng" algn="ctr">
                      <a:solidFill>
                        <a:srgbClr val="D6E2D9"/>
                      </a:solidFill>
                      <a:prstDash val="solid"/>
                      <a:round/>
                      <a:headEnd type="none" w="med" len="med"/>
                      <a:tailEnd type="none" w="med" len="med"/>
                    </a:lnT>
                    <a:lnB w="6350" cap="flat" cmpd="sng" algn="ctr">
                      <a:solidFill>
                        <a:srgbClr val="D6E2D9"/>
                      </a:solidFill>
                      <a:prstDash val="solid"/>
                      <a:round/>
                      <a:headEnd type="none" w="med" len="med"/>
                      <a:tailEnd type="none" w="med" len="med"/>
                    </a:lnB>
                    <a:solidFill>
                      <a:srgbClr val="5A6B63"/>
                    </a:solidFill>
                  </a:tcPr>
                </a:tc>
              </a:tr>
              <a:tr h="265176">
                <a:tc>
                  <a:txBody>
                    <a:bodyPr/>
                    <a:lstStyle/>
                    <a:p>
                      <a:pPr indent="0" marL="0">
                        <a:buNone/>
                      </a:pPr>
                      <a:r>
                        <a:rPr lang="en-US" sz="1050" dirty="0">
                          <a:solidFill>
                            <a:srgbClr val="1F4235"/>
                          </a:solidFill>
                          <a:latin typeface="Arial" pitchFamily="34" charset="0"/>
                          <a:ea typeface="Arial" pitchFamily="34" charset="-122"/>
                          <a:cs typeface="Arial" pitchFamily="34" charset="-120"/>
                        </a:rPr>
                        <a:t>Auburn  98001</a:t>
                      </a:r>
                      <a:endParaRPr lang="en-US" sz="1050" dirty="0">
                        <a:latin typeface="Arial" charset="0"/>
                        <a:ea typeface="Arial" charset="0"/>
                        <a:cs typeface="Arial" charset="0"/>
                      </a:endParaRPr>
                    </a:p>
                  </a:txBody>
                  <a:tcPr marL="91440" marR="91440" marT="45720" marB="45720" anchor="ctr">
                    <a:lnL w="6350" cap="flat" cmpd="sng" algn="ctr">
                      <a:solidFill>
                        <a:srgbClr val="D6E2D9"/>
                      </a:solidFill>
                      <a:prstDash val="solid"/>
                      <a:round/>
                      <a:headEnd type="none" w="med" len="med"/>
                      <a:tailEnd type="none" w="med" len="med"/>
                    </a:lnL>
                    <a:lnR w="6350" cap="flat" cmpd="sng" algn="ctr">
                      <a:solidFill>
                        <a:srgbClr val="D6E2D9"/>
                      </a:solidFill>
                      <a:prstDash val="solid"/>
                      <a:round/>
                      <a:headEnd type="none" w="med" len="med"/>
                      <a:tailEnd type="none" w="med" len="med"/>
                    </a:lnR>
                    <a:lnT w="6350" cap="flat" cmpd="sng" algn="ctr">
                      <a:solidFill>
                        <a:srgbClr val="D6E2D9"/>
                      </a:solidFill>
                      <a:prstDash val="solid"/>
                      <a:round/>
                      <a:headEnd type="none" w="med" len="med"/>
                      <a:tailEnd type="none" w="med" len="med"/>
                    </a:lnT>
                    <a:lnB w="6350" cap="flat" cmpd="sng" algn="ctr">
                      <a:solidFill>
                        <a:srgbClr val="D6E2D9"/>
                      </a:solidFill>
                      <a:prstDash val="solid"/>
                      <a:round/>
                      <a:headEnd type="none" w="med" len="med"/>
                      <a:tailEnd type="none" w="med" len="med"/>
                    </a:lnB>
                  </a:tcPr>
                </a:tc>
                <a:tc>
                  <a:txBody>
                    <a:bodyPr/>
                    <a:lstStyle/>
                    <a:p>
                      <a:pPr algn="r" indent="0" marL="0">
                        <a:buNone/>
                      </a:pPr>
                      <a:r>
                        <a:rPr lang="en-US" sz="1050" dirty="0">
                          <a:solidFill>
                            <a:srgbClr val="1F4235"/>
                          </a:solidFill>
                          <a:latin typeface="Arial" pitchFamily="34" charset="0"/>
                          <a:ea typeface="Arial" pitchFamily="34" charset="-122"/>
                          <a:cs typeface="Arial" pitchFamily="34" charset="-120"/>
                        </a:rPr>
                        <a:t>147</a:t>
                      </a:r>
                      <a:endParaRPr lang="en-US" sz="1050" dirty="0">
                        <a:latin typeface="Arial" charset="0"/>
                        <a:ea typeface="Arial" charset="0"/>
                        <a:cs typeface="Arial" charset="0"/>
                      </a:endParaRPr>
                    </a:p>
                  </a:txBody>
                  <a:tcPr marL="91440" marR="91440" marT="45720" marB="45720" anchor="ctr">
                    <a:lnL w="6350" cap="flat" cmpd="sng" algn="ctr">
                      <a:solidFill>
                        <a:srgbClr val="D6E2D9"/>
                      </a:solidFill>
                      <a:prstDash val="solid"/>
                      <a:round/>
                      <a:headEnd type="none" w="med" len="med"/>
                      <a:tailEnd type="none" w="med" len="med"/>
                    </a:lnL>
                    <a:lnR w="6350" cap="flat" cmpd="sng" algn="ctr">
                      <a:solidFill>
                        <a:srgbClr val="D6E2D9"/>
                      </a:solidFill>
                      <a:prstDash val="solid"/>
                      <a:round/>
                      <a:headEnd type="none" w="med" len="med"/>
                      <a:tailEnd type="none" w="med" len="med"/>
                    </a:lnR>
                    <a:lnT w="6350" cap="flat" cmpd="sng" algn="ctr">
                      <a:solidFill>
                        <a:srgbClr val="D6E2D9"/>
                      </a:solidFill>
                      <a:prstDash val="solid"/>
                      <a:round/>
                      <a:headEnd type="none" w="med" len="med"/>
                      <a:tailEnd type="none" w="med" len="med"/>
                    </a:lnT>
                    <a:lnB w="6350" cap="flat" cmpd="sng" algn="ctr">
                      <a:solidFill>
                        <a:srgbClr val="D6E2D9"/>
                      </a:solidFill>
                      <a:prstDash val="solid"/>
                      <a:round/>
                      <a:headEnd type="none" w="med" len="med"/>
                      <a:tailEnd type="none" w="med" len="med"/>
                    </a:lnB>
                  </a:tcPr>
                </a:tc>
              </a:tr>
              <a:tr h="265176">
                <a:tc>
                  <a:txBody>
                    <a:bodyPr/>
                    <a:lstStyle/>
                    <a:p>
                      <a:pPr indent="0" marL="0">
                        <a:buNone/>
                      </a:pPr>
                      <a:r>
                        <a:rPr lang="en-US" sz="1050" dirty="0">
                          <a:solidFill>
                            <a:srgbClr val="1F4235"/>
                          </a:solidFill>
                          <a:latin typeface="Arial" pitchFamily="34" charset="0"/>
                          <a:ea typeface="Arial" pitchFamily="34" charset="-122"/>
                          <a:cs typeface="Arial" pitchFamily="34" charset="-120"/>
                        </a:rPr>
                        <a:t>Kent  98032</a:t>
                      </a:r>
                      <a:endParaRPr lang="en-US" sz="1050" dirty="0">
                        <a:latin typeface="Arial" charset="0"/>
                        <a:ea typeface="Arial" charset="0"/>
                        <a:cs typeface="Arial" charset="0"/>
                      </a:endParaRPr>
                    </a:p>
                  </a:txBody>
                  <a:tcPr marL="91440" marR="91440" marT="45720" marB="45720" anchor="ctr">
                    <a:lnL w="6350" cap="flat" cmpd="sng" algn="ctr">
                      <a:solidFill>
                        <a:srgbClr val="D6E2D9"/>
                      </a:solidFill>
                      <a:prstDash val="solid"/>
                      <a:round/>
                      <a:headEnd type="none" w="med" len="med"/>
                      <a:tailEnd type="none" w="med" len="med"/>
                    </a:lnL>
                    <a:lnR w="6350" cap="flat" cmpd="sng" algn="ctr">
                      <a:solidFill>
                        <a:srgbClr val="D6E2D9"/>
                      </a:solidFill>
                      <a:prstDash val="solid"/>
                      <a:round/>
                      <a:headEnd type="none" w="med" len="med"/>
                      <a:tailEnd type="none" w="med" len="med"/>
                    </a:lnR>
                    <a:lnT w="6350" cap="flat" cmpd="sng" algn="ctr">
                      <a:solidFill>
                        <a:srgbClr val="D6E2D9"/>
                      </a:solidFill>
                      <a:prstDash val="solid"/>
                      <a:round/>
                      <a:headEnd type="none" w="med" len="med"/>
                      <a:tailEnd type="none" w="med" len="med"/>
                    </a:lnT>
                    <a:lnB w="6350" cap="flat" cmpd="sng" algn="ctr">
                      <a:solidFill>
                        <a:srgbClr val="D6E2D9"/>
                      </a:solidFill>
                      <a:prstDash val="solid"/>
                      <a:round/>
                      <a:headEnd type="none" w="med" len="med"/>
                      <a:tailEnd type="none" w="med" len="med"/>
                    </a:lnB>
                  </a:tcPr>
                </a:tc>
                <a:tc>
                  <a:txBody>
                    <a:bodyPr/>
                    <a:lstStyle/>
                    <a:p>
                      <a:pPr algn="r" indent="0" marL="0">
                        <a:buNone/>
                      </a:pPr>
                      <a:r>
                        <a:rPr lang="en-US" sz="1050" dirty="0">
                          <a:solidFill>
                            <a:srgbClr val="1F4235"/>
                          </a:solidFill>
                          <a:latin typeface="Arial" pitchFamily="34" charset="0"/>
                          <a:ea typeface="Arial" pitchFamily="34" charset="-122"/>
                          <a:cs typeface="Arial" pitchFamily="34" charset="-120"/>
                        </a:rPr>
                        <a:t>146</a:t>
                      </a:r>
                      <a:endParaRPr lang="en-US" sz="1050" dirty="0">
                        <a:latin typeface="Arial" charset="0"/>
                        <a:ea typeface="Arial" charset="0"/>
                        <a:cs typeface="Arial" charset="0"/>
                      </a:endParaRPr>
                    </a:p>
                  </a:txBody>
                  <a:tcPr marL="91440" marR="91440" marT="45720" marB="45720" anchor="ctr">
                    <a:lnL w="6350" cap="flat" cmpd="sng" algn="ctr">
                      <a:solidFill>
                        <a:srgbClr val="D6E2D9"/>
                      </a:solidFill>
                      <a:prstDash val="solid"/>
                      <a:round/>
                      <a:headEnd type="none" w="med" len="med"/>
                      <a:tailEnd type="none" w="med" len="med"/>
                    </a:lnL>
                    <a:lnR w="6350" cap="flat" cmpd="sng" algn="ctr">
                      <a:solidFill>
                        <a:srgbClr val="D6E2D9"/>
                      </a:solidFill>
                      <a:prstDash val="solid"/>
                      <a:round/>
                      <a:headEnd type="none" w="med" len="med"/>
                      <a:tailEnd type="none" w="med" len="med"/>
                    </a:lnR>
                    <a:lnT w="6350" cap="flat" cmpd="sng" algn="ctr">
                      <a:solidFill>
                        <a:srgbClr val="D6E2D9"/>
                      </a:solidFill>
                      <a:prstDash val="solid"/>
                      <a:round/>
                      <a:headEnd type="none" w="med" len="med"/>
                      <a:tailEnd type="none" w="med" len="med"/>
                    </a:lnT>
                    <a:lnB w="6350" cap="flat" cmpd="sng" algn="ctr">
                      <a:solidFill>
                        <a:srgbClr val="D6E2D9"/>
                      </a:solidFill>
                      <a:prstDash val="solid"/>
                      <a:round/>
                      <a:headEnd type="none" w="med" len="med"/>
                      <a:tailEnd type="none" w="med" len="med"/>
                    </a:lnB>
                  </a:tcPr>
                </a:tc>
              </a:tr>
              <a:tr h="265176">
                <a:tc>
                  <a:txBody>
                    <a:bodyPr/>
                    <a:lstStyle/>
                    <a:p>
                      <a:pPr indent="0" marL="0">
                        <a:buNone/>
                      </a:pPr>
                      <a:r>
                        <a:rPr lang="en-US" sz="1050" dirty="0">
                          <a:solidFill>
                            <a:srgbClr val="1F4235"/>
                          </a:solidFill>
                          <a:latin typeface="Arial" pitchFamily="34" charset="0"/>
                          <a:ea typeface="Arial" pitchFamily="34" charset="-122"/>
                          <a:cs typeface="Arial" pitchFamily="34" charset="-120"/>
                        </a:rPr>
                        <a:t>Federal Way  98023</a:t>
                      </a:r>
                      <a:endParaRPr lang="en-US" sz="1050" dirty="0">
                        <a:latin typeface="Arial" charset="0"/>
                        <a:ea typeface="Arial" charset="0"/>
                        <a:cs typeface="Arial" charset="0"/>
                      </a:endParaRPr>
                    </a:p>
                  </a:txBody>
                  <a:tcPr marL="91440" marR="91440" marT="45720" marB="45720" anchor="ctr">
                    <a:lnL w="6350" cap="flat" cmpd="sng" algn="ctr">
                      <a:solidFill>
                        <a:srgbClr val="D6E2D9"/>
                      </a:solidFill>
                      <a:prstDash val="solid"/>
                      <a:round/>
                      <a:headEnd type="none" w="med" len="med"/>
                      <a:tailEnd type="none" w="med" len="med"/>
                    </a:lnL>
                    <a:lnR w="6350" cap="flat" cmpd="sng" algn="ctr">
                      <a:solidFill>
                        <a:srgbClr val="D6E2D9"/>
                      </a:solidFill>
                      <a:prstDash val="solid"/>
                      <a:round/>
                      <a:headEnd type="none" w="med" len="med"/>
                      <a:tailEnd type="none" w="med" len="med"/>
                    </a:lnR>
                    <a:lnT w="6350" cap="flat" cmpd="sng" algn="ctr">
                      <a:solidFill>
                        <a:srgbClr val="D6E2D9"/>
                      </a:solidFill>
                      <a:prstDash val="solid"/>
                      <a:round/>
                      <a:headEnd type="none" w="med" len="med"/>
                      <a:tailEnd type="none" w="med" len="med"/>
                    </a:lnT>
                    <a:lnB w="6350" cap="flat" cmpd="sng" algn="ctr">
                      <a:solidFill>
                        <a:srgbClr val="D6E2D9"/>
                      </a:solidFill>
                      <a:prstDash val="solid"/>
                      <a:round/>
                      <a:headEnd type="none" w="med" len="med"/>
                      <a:tailEnd type="none" w="med" len="med"/>
                    </a:lnB>
                  </a:tcPr>
                </a:tc>
                <a:tc>
                  <a:txBody>
                    <a:bodyPr/>
                    <a:lstStyle/>
                    <a:p>
                      <a:pPr algn="r" indent="0" marL="0">
                        <a:buNone/>
                      </a:pPr>
                      <a:r>
                        <a:rPr lang="en-US" sz="1050" dirty="0">
                          <a:solidFill>
                            <a:srgbClr val="1F4235"/>
                          </a:solidFill>
                          <a:latin typeface="Arial" pitchFamily="34" charset="0"/>
                          <a:ea typeface="Arial" pitchFamily="34" charset="-122"/>
                          <a:cs typeface="Arial" pitchFamily="34" charset="-120"/>
                        </a:rPr>
                        <a:t>145</a:t>
                      </a:r>
                      <a:endParaRPr lang="en-US" sz="1050" dirty="0">
                        <a:latin typeface="Arial" charset="0"/>
                        <a:ea typeface="Arial" charset="0"/>
                        <a:cs typeface="Arial" charset="0"/>
                      </a:endParaRPr>
                    </a:p>
                  </a:txBody>
                  <a:tcPr marL="91440" marR="91440" marT="45720" marB="45720" anchor="ctr">
                    <a:lnL w="6350" cap="flat" cmpd="sng" algn="ctr">
                      <a:solidFill>
                        <a:srgbClr val="D6E2D9"/>
                      </a:solidFill>
                      <a:prstDash val="solid"/>
                      <a:round/>
                      <a:headEnd type="none" w="med" len="med"/>
                      <a:tailEnd type="none" w="med" len="med"/>
                    </a:lnL>
                    <a:lnR w="6350" cap="flat" cmpd="sng" algn="ctr">
                      <a:solidFill>
                        <a:srgbClr val="D6E2D9"/>
                      </a:solidFill>
                      <a:prstDash val="solid"/>
                      <a:round/>
                      <a:headEnd type="none" w="med" len="med"/>
                      <a:tailEnd type="none" w="med" len="med"/>
                    </a:lnR>
                    <a:lnT w="6350" cap="flat" cmpd="sng" algn="ctr">
                      <a:solidFill>
                        <a:srgbClr val="D6E2D9"/>
                      </a:solidFill>
                      <a:prstDash val="solid"/>
                      <a:round/>
                      <a:headEnd type="none" w="med" len="med"/>
                      <a:tailEnd type="none" w="med" len="med"/>
                    </a:lnT>
                    <a:lnB w="6350" cap="flat" cmpd="sng" algn="ctr">
                      <a:solidFill>
                        <a:srgbClr val="D6E2D9"/>
                      </a:solidFill>
                      <a:prstDash val="solid"/>
                      <a:round/>
                      <a:headEnd type="none" w="med" len="med"/>
                      <a:tailEnd type="none" w="med" len="med"/>
                    </a:lnB>
                  </a:tcPr>
                </a:tc>
              </a:tr>
            </a:tbl>
          </a:graphicData>
        </a:graphic>
      </p:graphicFrame>
      <p:sp>
        <p:nvSpPr>
          <p:cNvPr id="10" name="Text 6"/>
          <p:cNvSpPr txBox="1"/>
          <p:nvPr/>
        </p:nvSpPr>
        <p:spPr>
          <a:xfrm>
            <a:off x="4709160" y="3611880"/>
            <a:ext cx="3886200" cy="822960"/>
          </a:xfrm>
          <a:prstGeom prst="rect">
            <a:avLst/>
          </a:prstGeom>
          <a:noFill/>
          <a:ln/>
        </p:spPr>
        <p:txBody>
          <a:bodyPr wrap="square" lIns="0" tIns="0" rIns="0" bIns="0" rtlCol="0" anchor="ctr"/>
          <a:lstStyle/>
          <a:p>
            <a:pPr indent="0" marL="0">
              <a:buNone/>
            </a:pPr>
            <a:r>
              <a:rPr lang="en-US" sz="1250" dirty="0">
                <a:solidFill>
                  <a:srgbClr val="5A6B63"/>
                </a:solidFill>
                <a:latin typeface="Arial" pitchFamily="34" charset="0"/>
                <a:ea typeface="Arial" pitchFamily="34" charset="-122"/>
                <a:cs typeface="Arial" pitchFamily="34" charset="-120"/>
              </a:rPr>
              <a:t>One cluster around Lake Washington and central Seattle. Another, far cheaper, in the southern suburbs.</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046720" cy="237744"/>
          </a:xfrm>
          <a:prstGeom prst="rect">
            <a:avLst/>
          </a:prstGeom>
          <a:noFill/>
          <a:ln/>
        </p:spPr>
        <p:txBody>
          <a:bodyPr wrap="square" lIns="0" tIns="0" rIns="0" bIns="0" rtlCol="0" anchor="ctr"/>
          <a:lstStyle/>
          <a:p>
            <a:pPr indent="0" marL="0">
              <a:buNone/>
            </a:pPr>
            <a:r>
              <a:rPr lang="en-US" sz="1100" b="1" spc="200" kern="0" dirty="0">
                <a:solidFill>
                  <a:srgbClr val="D97A34"/>
                </a:solidFill>
                <a:latin typeface="Arial" pitchFamily="34" charset="0"/>
                <a:ea typeface="Arial" pitchFamily="34" charset="-122"/>
                <a:cs typeface="Arial" pitchFamily="34" charset="-120"/>
              </a:rPr>
              <a:t>QUESTION 3 — DOES RENOVATING PAY?</a:t>
            </a:r>
            <a:endParaRPr lang="en-US" sz="1100" dirty="0"/>
          </a:p>
        </p:txBody>
      </p:sp>
      <p:sp>
        <p:nvSpPr>
          <p:cNvPr id="3" name="Text 1"/>
          <p:cNvSpPr txBox="1"/>
          <p:nvPr/>
        </p:nvSpPr>
        <p:spPr>
          <a:xfrm>
            <a:off x="548640" y="603504"/>
            <a:ext cx="8046720" cy="566928"/>
          </a:xfrm>
          <a:prstGeom prst="rect">
            <a:avLst/>
          </a:prstGeom>
          <a:noFill/>
          <a:ln/>
        </p:spPr>
        <p:txBody>
          <a:bodyPr wrap="square" lIns="0" tIns="0" rIns="0" bIns="0" rtlCol="0" anchor="ctr"/>
          <a:lstStyle/>
          <a:p>
            <a:pPr indent="0" marL="0">
              <a:buNone/>
            </a:pPr>
            <a:r>
              <a:rPr lang="en-US" sz="3200" b="1" dirty="0">
                <a:solidFill>
                  <a:srgbClr val="1F4235"/>
                </a:solidFill>
                <a:latin typeface="Palatino" pitchFamily="34" charset="0"/>
                <a:ea typeface="Palatino" pitchFamily="34" charset="-122"/>
                <a:cs typeface="Palatino" pitchFamily="34" charset="-120"/>
              </a:rPr>
              <a:t>The premium that wasn't there</a:t>
            </a:r>
            <a:endParaRPr lang="en-US" sz="3200" dirty="0"/>
          </a:p>
        </p:txBody>
      </p:sp>
      <p:sp>
        <p:nvSpPr>
          <p:cNvPr id="4" name="Shape 2"/>
          <p:cNvSpPr/>
          <p:nvPr/>
        </p:nvSpPr>
        <p:spPr>
          <a:xfrm>
            <a:off x="6903720" y="292608"/>
            <a:ext cx="1691640" cy="329184"/>
          </a:xfrm>
          <a:prstGeom prst="roundRect">
            <a:avLst>
              <a:gd name="adj" fmla="val 138889"/>
            </a:avLst>
          </a:prstGeom>
          <a:solidFill>
            <a:srgbClr val="D97A34"/>
          </a:solidFill>
          <a:ln w="12700">
            <a:solidFill>
              <a:srgbClr val="D97A34"/>
            </a:solidFill>
            <a:prstDash val="solid"/>
          </a:ln>
        </p:spPr>
      </p:sp>
      <p:sp>
        <p:nvSpPr>
          <p:cNvPr id="5" name="Text 3"/>
          <p:cNvSpPr txBox="1"/>
          <p:nvPr/>
        </p:nvSpPr>
        <p:spPr>
          <a:xfrm>
            <a:off x="6903720" y="292608"/>
            <a:ext cx="169164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Arial" pitchFamily="34" charset="0"/>
                <a:ea typeface="Arial" pitchFamily="34" charset="-122"/>
                <a:cs typeface="Arial" pitchFamily="34" charset="-120"/>
              </a:rPr>
              <a:t>NOT SUPPORTED</a:t>
            </a:r>
            <a:endParaRPr lang="en-US" sz="1000" dirty="0"/>
          </a:p>
        </p:txBody>
      </p:sp>
      <p:pic>
        <p:nvPicPr>
          <p:cNvPr id="6" name="Image 0" descr="images/renovation.png">    </p:cNvPr>
          <p:cNvPicPr>
            <a:picLocks noChangeAspect="1"/>
          </p:cNvPicPr>
          <p:nvPr/>
        </p:nvPicPr>
        <p:blipFill>
          <a:blip r:embed="rId1"/>
          <a:stretch>
            <a:fillRect/>
          </a:stretch>
        </p:blipFill>
        <p:spPr>
          <a:xfrm>
            <a:off x="548640" y="1280160"/>
            <a:ext cx="5760720" cy="3483864"/>
          </a:xfrm>
          <a:prstGeom prst="rect">
            <a:avLst/>
          </a:prstGeom>
        </p:spPr>
      </p:pic>
      <p:sp>
        <p:nvSpPr>
          <p:cNvPr id="7" name="Shape 4"/>
          <p:cNvSpPr/>
          <p:nvPr/>
        </p:nvSpPr>
        <p:spPr>
          <a:xfrm>
            <a:off x="6537960" y="1280160"/>
            <a:ext cx="2057400" cy="1371600"/>
          </a:xfrm>
          <a:prstGeom prst="roundRect">
            <a:avLst>
              <a:gd name="adj" fmla="val 5333"/>
            </a:avLst>
          </a:prstGeom>
          <a:solidFill>
            <a:srgbClr val="1F4235"/>
          </a:solidFill>
          <a:ln w="12700">
            <a:solidFill>
              <a:srgbClr val="1F4235"/>
            </a:solidFill>
            <a:prstDash val="solid"/>
          </a:ln>
        </p:spPr>
      </p:sp>
      <p:sp>
        <p:nvSpPr>
          <p:cNvPr id="8" name="Text 5"/>
          <p:cNvSpPr txBox="1"/>
          <p:nvPr/>
        </p:nvSpPr>
        <p:spPr>
          <a:xfrm>
            <a:off x="6720840" y="1417320"/>
            <a:ext cx="1737360" cy="640080"/>
          </a:xfrm>
          <a:prstGeom prst="rect">
            <a:avLst/>
          </a:prstGeom>
          <a:noFill/>
          <a:ln/>
        </p:spPr>
        <p:txBody>
          <a:bodyPr wrap="square" lIns="0" tIns="0" rIns="0" bIns="0" rtlCol="0" anchor="ctr"/>
          <a:lstStyle/>
          <a:p>
            <a:pPr indent="0" marL="0">
              <a:buNone/>
            </a:pPr>
            <a:r>
              <a:rPr lang="en-US" sz="3000" b="1" dirty="0">
                <a:solidFill>
                  <a:srgbClr val="D97A34"/>
                </a:solidFill>
                <a:latin typeface="Palatino" pitchFamily="34" charset="0"/>
                <a:ea typeface="Palatino" pitchFamily="34" charset="-122"/>
                <a:cs typeface="Palatino" pitchFamily="34" charset="-120"/>
              </a:rPr>
              <a:t>+2.7%</a:t>
            </a:r>
            <a:endParaRPr lang="en-US" sz="3000" dirty="0"/>
          </a:p>
        </p:txBody>
      </p:sp>
      <p:sp>
        <p:nvSpPr>
          <p:cNvPr id="9" name="Text 6"/>
          <p:cNvSpPr txBox="1"/>
          <p:nvPr/>
        </p:nvSpPr>
        <p:spPr>
          <a:xfrm>
            <a:off x="6720840" y="2103120"/>
            <a:ext cx="1737360" cy="411480"/>
          </a:xfrm>
          <a:prstGeom prst="rect">
            <a:avLst/>
          </a:prstGeom>
          <a:noFill/>
          <a:ln/>
        </p:spPr>
        <p:txBody>
          <a:bodyPr wrap="square" lIns="0" tIns="0" rIns="0" bIns="0" rtlCol="0" anchor="ctr"/>
          <a:lstStyle/>
          <a:p>
            <a:pPr indent="0" marL="0">
              <a:buNone/>
            </a:pPr>
            <a:r>
              <a:rPr lang="en-US" sz="1100" dirty="0">
                <a:solidFill>
                  <a:srgbClr val="A8C6B4"/>
                </a:solidFill>
                <a:latin typeface="Arial" pitchFamily="34" charset="0"/>
                <a:ea typeface="Arial" pitchFamily="34" charset="-122"/>
                <a:cs typeface="Arial" pitchFamily="34" charset="-120"/>
              </a:rPr>
              <a:t>inside the same zipcode</a:t>
            </a:r>
            <a:endParaRPr lang="en-US" sz="1100" dirty="0"/>
          </a:p>
        </p:txBody>
      </p:sp>
      <p:sp>
        <p:nvSpPr>
          <p:cNvPr id="10" name="Text 7"/>
          <p:cNvSpPr txBox="1"/>
          <p:nvPr/>
        </p:nvSpPr>
        <p:spPr>
          <a:xfrm>
            <a:off x="6537960" y="2880360"/>
            <a:ext cx="2057400" cy="822960"/>
          </a:xfrm>
          <a:prstGeom prst="rect">
            <a:avLst/>
          </a:prstGeom>
          <a:noFill/>
          <a:ln/>
        </p:spPr>
        <p:txBody>
          <a:bodyPr wrap="square" lIns="0" tIns="0" rIns="0" bIns="0" rtlCol="0" anchor="ctr"/>
          <a:lstStyle/>
          <a:p>
            <a:pPr indent="0" marL="0">
              <a:buNone/>
            </a:pPr>
            <a:r>
              <a:rPr lang="en-US" sz="1150" dirty="0">
                <a:solidFill>
                  <a:srgbClr val="5A6B63"/>
                </a:solidFill>
                <a:latin typeface="Arial" pitchFamily="34" charset="0"/>
                <a:ea typeface="Arial" pitchFamily="34" charset="-122"/>
                <a:cs typeface="Arial" pitchFamily="34" charset="-120"/>
              </a:rPr>
              <a:t>Grade holds build quality constant. It does not hold location constant.</a:t>
            </a:r>
            <a:endParaRPr lang="en-US" sz="1150" dirty="0"/>
          </a:p>
        </p:txBody>
      </p:sp>
      <p:sp>
        <p:nvSpPr>
          <p:cNvPr id="11" name="Text 8"/>
          <p:cNvSpPr txBox="1"/>
          <p:nvPr/>
        </p:nvSpPr>
        <p:spPr>
          <a:xfrm>
            <a:off x="6537960" y="3794760"/>
            <a:ext cx="2057400" cy="566928"/>
          </a:xfrm>
          <a:prstGeom prst="rect">
            <a:avLst/>
          </a:prstGeom>
          <a:noFill/>
          <a:ln/>
        </p:spPr>
        <p:txBody>
          <a:bodyPr wrap="square" lIns="0" tIns="0" rIns="0" bIns="0" rtlCol="0" anchor="ctr"/>
          <a:lstStyle/>
          <a:p>
            <a:pPr indent="0" marL="0">
              <a:buNone/>
            </a:pPr>
            <a:r>
              <a:rPr lang="en-US" sz="2200" b="1" dirty="0">
                <a:solidFill>
                  <a:srgbClr val="1F4235"/>
                </a:solidFill>
                <a:latin typeface="Palatino" pitchFamily="34" charset="0"/>
                <a:ea typeface="Palatino" pitchFamily="34" charset="-122"/>
                <a:cs typeface="Palatino" pitchFamily="34" charset="-120"/>
              </a:rPr>
              <a:t>39 / 68</a:t>
            </a:r>
            <a:endParaRPr lang="en-US" sz="2200" dirty="0"/>
          </a:p>
        </p:txBody>
      </p:sp>
      <p:sp>
        <p:nvSpPr>
          <p:cNvPr id="12" name="Text 9"/>
          <p:cNvSpPr txBox="1"/>
          <p:nvPr/>
        </p:nvSpPr>
        <p:spPr>
          <a:xfrm>
            <a:off x="6537960" y="4343400"/>
            <a:ext cx="2057400" cy="384048"/>
          </a:xfrm>
          <a:prstGeom prst="rect">
            <a:avLst/>
          </a:prstGeom>
          <a:noFill/>
          <a:ln/>
        </p:spPr>
        <p:txBody>
          <a:bodyPr wrap="square" lIns="0" tIns="0" rIns="0" bIns="0" rtlCol="0" anchor="ctr"/>
          <a:lstStyle/>
          <a:p>
            <a:pPr indent="0" marL="0">
              <a:buNone/>
            </a:pPr>
            <a:r>
              <a:rPr lang="en-US" sz="1100" dirty="0">
                <a:solidFill>
                  <a:srgbClr val="5A6B63"/>
                </a:solidFill>
                <a:latin typeface="Arial" pitchFamily="34" charset="0"/>
                <a:ea typeface="Arial" pitchFamily="34" charset="-122"/>
                <a:cs typeface="Arial" pitchFamily="34" charset="-120"/>
              </a:rPr>
              <a:t>zipcodes where it paid</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046720" cy="237744"/>
          </a:xfrm>
          <a:prstGeom prst="rect">
            <a:avLst/>
          </a:prstGeom>
          <a:noFill/>
          <a:ln/>
        </p:spPr>
        <p:txBody>
          <a:bodyPr wrap="square" lIns="0" tIns="0" rIns="0" bIns="0" rtlCol="0" anchor="ctr"/>
          <a:lstStyle/>
          <a:p>
            <a:pPr indent="0" marL="0">
              <a:buNone/>
            </a:pPr>
            <a:r>
              <a:rPr lang="en-US" sz="1100" b="1" spc="200" kern="0" dirty="0">
                <a:solidFill>
                  <a:srgbClr val="D97A34"/>
                </a:solidFill>
                <a:latin typeface="Arial" pitchFamily="34" charset="0"/>
                <a:ea typeface="Arial" pitchFamily="34" charset="-122"/>
                <a:cs typeface="Arial" pitchFamily="34" charset="-120"/>
              </a:rPr>
              <a:t>RECOMMENDATIONS</a:t>
            </a:r>
            <a:endParaRPr lang="en-US" sz="1100" dirty="0"/>
          </a:p>
        </p:txBody>
      </p:sp>
      <p:sp>
        <p:nvSpPr>
          <p:cNvPr id="3" name="Text 1"/>
          <p:cNvSpPr txBox="1"/>
          <p:nvPr/>
        </p:nvSpPr>
        <p:spPr>
          <a:xfrm>
            <a:off x="548640" y="603504"/>
            <a:ext cx="8046720" cy="566928"/>
          </a:xfrm>
          <a:prstGeom prst="rect">
            <a:avLst/>
          </a:prstGeom>
          <a:noFill/>
          <a:ln/>
        </p:spPr>
        <p:txBody>
          <a:bodyPr wrap="square" lIns="0" tIns="0" rIns="0" bIns="0" rtlCol="0" anchor="ctr"/>
          <a:lstStyle/>
          <a:p>
            <a:pPr indent="0" marL="0">
              <a:buNone/>
            </a:pPr>
            <a:r>
              <a:rPr lang="en-US" sz="3200" b="1" dirty="0">
                <a:solidFill>
                  <a:srgbClr val="1F4235"/>
                </a:solidFill>
                <a:latin typeface="Palatino" pitchFamily="34" charset="0"/>
                <a:ea typeface="Palatino" pitchFamily="34" charset="-122"/>
                <a:cs typeface="Palatino" pitchFamily="34" charset="-120"/>
              </a:rPr>
              <a:t>Three things Charles should do</a:t>
            </a:r>
            <a:endParaRPr lang="en-US" sz="3200" dirty="0"/>
          </a:p>
        </p:txBody>
      </p:sp>
      <p:sp>
        <p:nvSpPr>
          <p:cNvPr id="4" name="Shape 2"/>
          <p:cNvSpPr/>
          <p:nvPr/>
        </p:nvSpPr>
        <p:spPr>
          <a:xfrm>
            <a:off x="548640" y="1463040"/>
            <a:ext cx="8046720" cy="914400"/>
          </a:xfrm>
          <a:prstGeom prst="roundRect">
            <a:avLst>
              <a:gd name="adj" fmla="val 8000"/>
            </a:avLst>
          </a:prstGeom>
          <a:solidFill>
            <a:srgbClr val="E9F0EA"/>
          </a:solidFill>
          <a:ln w="12700">
            <a:solidFill>
              <a:srgbClr val="E9F0EA"/>
            </a:solidFill>
            <a:prstDash val="solid"/>
          </a:ln>
        </p:spPr>
      </p:sp>
      <p:sp>
        <p:nvSpPr>
          <p:cNvPr id="5" name="Shape 3"/>
          <p:cNvSpPr/>
          <p:nvPr/>
        </p:nvSpPr>
        <p:spPr>
          <a:xfrm>
            <a:off x="822960" y="1737360"/>
            <a:ext cx="365760" cy="365760"/>
          </a:xfrm>
          <a:prstGeom prst="ellipse">
            <a:avLst/>
          </a:prstGeom>
          <a:solidFill>
            <a:srgbClr val="1F4235"/>
          </a:solidFill>
          <a:ln w="12700">
            <a:solidFill>
              <a:srgbClr val="1F4235"/>
            </a:solidFill>
            <a:prstDash val="solid"/>
          </a:ln>
        </p:spPr>
      </p:sp>
      <p:sp>
        <p:nvSpPr>
          <p:cNvPr id="6" name="Text 4"/>
          <p:cNvSpPr txBox="1"/>
          <p:nvPr/>
        </p:nvSpPr>
        <p:spPr>
          <a:xfrm>
            <a:off x="822960" y="173736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7" name="Text 5"/>
          <p:cNvSpPr txBox="1"/>
          <p:nvPr/>
        </p:nvSpPr>
        <p:spPr>
          <a:xfrm>
            <a:off x="1371600" y="1572768"/>
            <a:ext cx="7315200" cy="320040"/>
          </a:xfrm>
          <a:prstGeom prst="rect">
            <a:avLst/>
          </a:prstGeom>
          <a:noFill/>
          <a:ln/>
        </p:spPr>
        <p:txBody>
          <a:bodyPr wrap="square" lIns="0" tIns="0" rIns="0" bIns="0" rtlCol="0" anchor="ctr"/>
          <a:lstStyle/>
          <a:p>
            <a:pPr indent="0" marL="0">
              <a:buNone/>
            </a:pPr>
            <a:r>
              <a:rPr lang="en-US" sz="1700" b="1" dirty="0">
                <a:solidFill>
                  <a:srgbClr val="1F4235"/>
                </a:solidFill>
                <a:latin typeface="Palatino" pitchFamily="34" charset="0"/>
                <a:ea typeface="Palatino" pitchFamily="34" charset="-122"/>
                <a:cs typeface="Palatino" pitchFamily="34" charset="-120"/>
              </a:rPr>
              <a:t>List in early spring, close in April</a:t>
            </a:r>
            <a:endParaRPr lang="en-US" sz="1700" dirty="0"/>
          </a:p>
        </p:txBody>
      </p:sp>
      <p:sp>
        <p:nvSpPr>
          <p:cNvPr id="8" name="Text 6"/>
          <p:cNvSpPr txBox="1"/>
          <p:nvPr/>
        </p:nvSpPr>
        <p:spPr>
          <a:xfrm>
            <a:off x="1371600" y="1938528"/>
            <a:ext cx="7315200" cy="320040"/>
          </a:xfrm>
          <a:prstGeom prst="rect">
            <a:avLst/>
          </a:prstGeom>
          <a:noFill/>
          <a:ln/>
        </p:spPr>
        <p:txBody>
          <a:bodyPr wrap="square" lIns="0" tIns="0" rIns="0" bIns="0" rtlCol="0" anchor="ctr"/>
          <a:lstStyle/>
          <a:p>
            <a:pPr indent="0" marL="0">
              <a:buNone/>
            </a:pPr>
            <a:r>
              <a:rPr lang="en-US" sz="1200" dirty="0">
                <a:solidFill>
                  <a:srgbClr val="5A6B63"/>
                </a:solidFill>
                <a:latin typeface="Arial" pitchFamily="34" charset="0"/>
                <a:ea typeface="Arial" pitchFamily="34" charset="-122"/>
                <a:cs typeface="Arial" pitchFamily="34" charset="-120"/>
              </a:rPr>
              <a:t>Worth about 10% against a December sale. It costs nothing but patience.</a:t>
            </a:r>
            <a:endParaRPr lang="en-US" sz="1200" dirty="0"/>
          </a:p>
        </p:txBody>
      </p:sp>
      <p:sp>
        <p:nvSpPr>
          <p:cNvPr id="9" name="Shape 7"/>
          <p:cNvSpPr/>
          <p:nvPr/>
        </p:nvSpPr>
        <p:spPr>
          <a:xfrm>
            <a:off x="548640" y="2542032"/>
            <a:ext cx="8046720" cy="914400"/>
          </a:xfrm>
          <a:prstGeom prst="roundRect">
            <a:avLst>
              <a:gd name="adj" fmla="val 8000"/>
            </a:avLst>
          </a:prstGeom>
          <a:solidFill>
            <a:srgbClr val="E9F0EA"/>
          </a:solidFill>
          <a:ln w="12700">
            <a:solidFill>
              <a:srgbClr val="E9F0EA"/>
            </a:solidFill>
            <a:prstDash val="solid"/>
          </a:ln>
        </p:spPr>
      </p:sp>
      <p:sp>
        <p:nvSpPr>
          <p:cNvPr id="10" name="Shape 8"/>
          <p:cNvSpPr/>
          <p:nvPr/>
        </p:nvSpPr>
        <p:spPr>
          <a:xfrm>
            <a:off x="822960" y="2816352"/>
            <a:ext cx="365760" cy="365760"/>
          </a:xfrm>
          <a:prstGeom prst="ellipse">
            <a:avLst/>
          </a:prstGeom>
          <a:solidFill>
            <a:srgbClr val="1F4235"/>
          </a:solidFill>
          <a:ln w="12700">
            <a:solidFill>
              <a:srgbClr val="1F4235"/>
            </a:solidFill>
            <a:prstDash val="solid"/>
          </a:ln>
        </p:spPr>
      </p:sp>
      <p:sp>
        <p:nvSpPr>
          <p:cNvPr id="11" name="Text 9"/>
          <p:cNvSpPr txBox="1"/>
          <p:nvPr/>
        </p:nvSpPr>
        <p:spPr>
          <a:xfrm>
            <a:off x="822960" y="281635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2" name="Text 10"/>
          <p:cNvSpPr txBox="1"/>
          <p:nvPr/>
        </p:nvSpPr>
        <p:spPr>
          <a:xfrm>
            <a:off x="1371600" y="2651760"/>
            <a:ext cx="7315200" cy="320040"/>
          </a:xfrm>
          <a:prstGeom prst="rect">
            <a:avLst/>
          </a:prstGeom>
          <a:noFill/>
          <a:ln/>
        </p:spPr>
        <p:txBody>
          <a:bodyPr wrap="square" lIns="0" tIns="0" rIns="0" bIns="0" rtlCol="0" anchor="ctr"/>
          <a:lstStyle/>
          <a:p>
            <a:pPr indent="0" marL="0">
              <a:buNone/>
            </a:pPr>
            <a:r>
              <a:rPr lang="en-US" sz="1700" b="1" dirty="0">
                <a:solidFill>
                  <a:srgbClr val="1F4235"/>
                </a:solidFill>
                <a:latin typeface="Palatino" pitchFamily="34" charset="0"/>
                <a:ea typeface="Palatino" pitchFamily="34" charset="-122"/>
                <a:cs typeface="Palatino" pitchFamily="34" charset="-120"/>
              </a:rPr>
              <a:t>Judge any property by its zipcode first</a:t>
            </a:r>
            <a:endParaRPr lang="en-US" sz="1700" dirty="0"/>
          </a:p>
        </p:txBody>
      </p:sp>
      <p:sp>
        <p:nvSpPr>
          <p:cNvPr id="13" name="Text 11"/>
          <p:cNvSpPr txBox="1"/>
          <p:nvPr/>
        </p:nvSpPr>
        <p:spPr>
          <a:xfrm>
            <a:off x="1371600" y="3017520"/>
            <a:ext cx="7315200" cy="320040"/>
          </a:xfrm>
          <a:prstGeom prst="rect">
            <a:avLst/>
          </a:prstGeom>
          <a:noFill/>
          <a:ln/>
        </p:spPr>
        <p:txBody>
          <a:bodyPr wrap="square" lIns="0" tIns="0" rIns="0" bIns="0" rtlCol="0" anchor="ctr"/>
          <a:lstStyle/>
          <a:p>
            <a:pPr indent="0" marL="0">
              <a:buNone/>
            </a:pPr>
            <a:r>
              <a:rPr lang="en-US" sz="1200" dirty="0">
                <a:solidFill>
                  <a:srgbClr val="5A6B63"/>
                </a:solidFill>
                <a:latin typeface="Arial" pitchFamily="34" charset="0"/>
                <a:ea typeface="Arial" pitchFamily="34" charset="-122"/>
                <a:cs typeface="Arial" pitchFamily="34" charset="-120"/>
              </a:rPr>
              <a:t>Location sets value per square foot far more than anything about the house.</a:t>
            </a:r>
            <a:endParaRPr lang="en-US" sz="1200" dirty="0"/>
          </a:p>
        </p:txBody>
      </p:sp>
      <p:sp>
        <p:nvSpPr>
          <p:cNvPr id="14" name="Shape 12"/>
          <p:cNvSpPr/>
          <p:nvPr/>
        </p:nvSpPr>
        <p:spPr>
          <a:xfrm>
            <a:off x="548640" y="3621024"/>
            <a:ext cx="8046720" cy="914400"/>
          </a:xfrm>
          <a:prstGeom prst="roundRect">
            <a:avLst>
              <a:gd name="adj" fmla="val 8000"/>
            </a:avLst>
          </a:prstGeom>
          <a:solidFill>
            <a:srgbClr val="E9F0EA"/>
          </a:solidFill>
          <a:ln w="12700">
            <a:solidFill>
              <a:srgbClr val="E9F0EA"/>
            </a:solidFill>
            <a:prstDash val="solid"/>
          </a:ln>
        </p:spPr>
      </p:sp>
      <p:sp>
        <p:nvSpPr>
          <p:cNvPr id="15" name="Shape 13"/>
          <p:cNvSpPr/>
          <p:nvPr/>
        </p:nvSpPr>
        <p:spPr>
          <a:xfrm>
            <a:off x="822960" y="3895344"/>
            <a:ext cx="365760" cy="365760"/>
          </a:xfrm>
          <a:prstGeom prst="ellipse">
            <a:avLst/>
          </a:prstGeom>
          <a:solidFill>
            <a:srgbClr val="1F4235"/>
          </a:solidFill>
          <a:ln w="12700">
            <a:solidFill>
              <a:srgbClr val="1F4235"/>
            </a:solidFill>
            <a:prstDash val="solid"/>
          </a:ln>
        </p:spPr>
      </p:sp>
      <p:sp>
        <p:nvSpPr>
          <p:cNvPr id="16" name="Text 14"/>
          <p:cNvSpPr txBox="1"/>
          <p:nvPr/>
        </p:nvSpPr>
        <p:spPr>
          <a:xfrm>
            <a:off x="822960" y="389534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7" name="Text 15"/>
          <p:cNvSpPr txBox="1"/>
          <p:nvPr/>
        </p:nvSpPr>
        <p:spPr>
          <a:xfrm>
            <a:off x="1371600" y="3730752"/>
            <a:ext cx="7315200" cy="320040"/>
          </a:xfrm>
          <a:prstGeom prst="rect">
            <a:avLst/>
          </a:prstGeom>
          <a:noFill/>
          <a:ln/>
        </p:spPr>
        <p:txBody>
          <a:bodyPr wrap="square" lIns="0" tIns="0" rIns="0" bIns="0" rtlCol="0" anchor="ctr"/>
          <a:lstStyle/>
          <a:p>
            <a:pPr indent="0" marL="0">
              <a:buNone/>
            </a:pPr>
            <a:r>
              <a:rPr lang="en-US" sz="1700" b="1" dirty="0">
                <a:solidFill>
                  <a:srgbClr val="1F4235"/>
                </a:solidFill>
                <a:latin typeface="Palatino" pitchFamily="34" charset="0"/>
                <a:ea typeface="Palatino" pitchFamily="34" charset="-122"/>
                <a:cs typeface="Palatino" pitchFamily="34" charset="-120"/>
              </a:rPr>
              <a:t>Do not renovate as a price play</a:t>
            </a:r>
            <a:endParaRPr lang="en-US" sz="1700" dirty="0"/>
          </a:p>
        </p:txBody>
      </p:sp>
      <p:sp>
        <p:nvSpPr>
          <p:cNvPr id="18" name="Text 16"/>
          <p:cNvSpPr txBox="1"/>
          <p:nvPr/>
        </p:nvSpPr>
        <p:spPr>
          <a:xfrm>
            <a:off x="1371600" y="4096512"/>
            <a:ext cx="7315200" cy="320040"/>
          </a:xfrm>
          <a:prstGeom prst="rect">
            <a:avLst/>
          </a:prstGeom>
          <a:noFill/>
          <a:ln/>
        </p:spPr>
        <p:txBody>
          <a:bodyPr wrap="square" lIns="0" tIns="0" rIns="0" bIns="0" rtlCol="0" anchor="ctr"/>
          <a:lstStyle/>
          <a:p>
            <a:pPr indent="0" marL="0">
              <a:buNone/>
            </a:pPr>
            <a:r>
              <a:rPr lang="en-US" sz="1200" dirty="0">
                <a:solidFill>
                  <a:srgbClr val="5A6B63"/>
                </a:solidFill>
                <a:latin typeface="Arial" pitchFamily="34" charset="0"/>
                <a:ea typeface="Arial" pitchFamily="34" charset="-122"/>
                <a:cs typeface="Arial" pitchFamily="34" charset="-120"/>
              </a:rPr>
              <a:t>Against comparable homes in the same neighbourhood, it shows no reliable return.</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046720" cy="237744"/>
          </a:xfrm>
          <a:prstGeom prst="rect">
            <a:avLst/>
          </a:prstGeom>
          <a:noFill/>
          <a:ln/>
        </p:spPr>
        <p:txBody>
          <a:bodyPr wrap="square" lIns="0" tIns="0" rIns="0" bIns="0" rtlCol="0" anchor="ctr"/>
          <a:lstStyle/>
          <a:p>
            <a:pPr indent="0" marL="0">
              <a:buNone/>
            </a:pPr>
            <a:r>
              <a:rPr lang="en-US" sz="1100" b="1" spc="200" kern="0" dirty="0">
                <a:solidFill>
                  <a:srgbClr val="D97A34"/>
                </a:solidFill>
                <a:latin typeface="Arial" pitchFamily="34" charset="0"/>
                <a:ea typeface="Arial" pitchFamily="34" charset="-122"/>
                <a:cs typeface="Arial" pitchFamily="34" charset="-120"/>
              </a:rPr>
              <a:t>HONEST LIMITS</a:t>
            </a:r>
            <a:endParaRPr lang="en-US" sz="1100" dirty="0"/>
          </a:p>
        </p:txBody>
      </p:sp>
      <p:sp>
        <p:nvSpPr>
          <p:cNvPr id="3" name="Text 1"/>
          <p:cNvSpPr txBox="1"/>
          <p:nvPr/>
        </p:nvSpPr>
        <p:spPr>
          <a:xfrm>
            <a:off x="548640" y="603504"/>
            <a:ext cx="8046720" cy="566928"/>
          </a:xfrm>
          <a:prstGeom prst="rect">
            <a:avLst/>
          </a:prstGeom>
          <a:noFill/>
          <a:ln/>
        </p:spPr>
        <p:txBody>
          <a:bodyPr wrap="square" lIns="0" tIns="0" rIns="0" bIns="0" rtlCol="0" anchor="ctr"/>
          <a:lstStyle/>
          <a:p>
            <a:pPr indent="0" marL="0">
              <a:buNone/>
            </a:pPr>
            <a:r>
              <a:rPr lang="en-US" sz="3200" b="1" dirty="0">
                <a:solidFill>
                  <a:srgbClr val="1F4235"/>
                </a:solidFill>
                <a:latin typeface="Palatino" pitchFamily="34" charset="0"/>
                <a:ea typeface="Palatino" pitchFamily="34" charset="-122"/>
                <a:cs typeface="Palatino" pitchFamily="34" charset="-120"/>
              </a:rPr>
              <a:t>What this cannot tell you</a:t>
            </a:r>
            <a:endParaRPr lang="en-US" sz="3200" dirty="0"/>
          </a:p>
        </p:txBody>
      </p:sp>
      <p:sp>
        <p:nvSpPr>
          <p:cNvPr id="4" name="Shape 2"/>
          <p:cNvSpPr/>
          <p:nvPr/>
        </p:nvSpPr>
        <p:spPr>
          <a:xfrm>
            <a:off x="548640" y="1645920"/>
            <a:ext cx="128016" cy="128016"/>
          </a:xfrm>
          <a:prstGeom prst="ellipse">
            <a:avLst/>
          </a:prstGeom>
          <a:solidFill>
            <a:srgbClr val="D97A34"/>
          </a:solidFill>
          <a:ln w="12700">
            <a:solidFill>
              <a:srgbClr val="D97A34"/>
            </a:solidFill>
            <a:prstDash val="solid"/>
          </a:ln>
        </p:spPr>
      </p:sp>
      <p:sp>
        <p:nvSpPr>
          <p:cNvPr id="5" name="Text 3"/>
          <p:cNvSpPr txBox="1"/>
          <p:nvPr/>
        </p:nvSpPr>
        <p:spPr>
          <a:xfrm>
            <a:off x="932688" y="1554480"/>
            <a:ext cx="2834640" cy="365760"/>
          </a:xfrm>
          <a:prstGeom prst="rect">
            <a:avLst/>
          </a:prstGeom>
          <a:noFill/>
          <a:ln/>
        </p:spPr>
        <p:txBody>
          <a:bodyPr wrap="square" lIns="0" tIns="0" rIns="0" bIns="0" rtlCol="0" anchor="ctr"/>
          <a:lstStyle/>
          <a:p>
            <a:pPr indent="0" marL="0">
              <a:buNone/>
            </a:pPr>
            <a:r>
              <a:rPr lang="en-US" sz="1700" b="1" dirty="0">
                <a:solidFill>
                  <a:srgbClr val="1F4235"/>
                </a:solidFill>
                <a:latin typeface="Palatino" pitchFamily="34" charset="0"/>
                <a:ea typeface="Palatino" pitchFamily="34" charset="-122"/>
                <a:cs typeface="Palatino" pitchFamily="34" charset="-120"/>
              </a:rPr>
              <a:t>One year of data</a:t>
            </a:r>
            <a:endParaRPr lang="en-US" sz="1700" dirty="0"/>
          </a:p>
        </p:txBody>
      </p:sp>
      <p:sp>
        <p:nvSpPr>
          <p:cNvPr id="6" name="Text 4"/>
          <p:cNvSpPr txBox="1"/>
          <p:nvPr/>
        </p:nvSpPr>
        <p:spPr>
          <a:xfrm>
            <a:off x="3840480" y="1545336"/>
            <a:ext cx="4754880" cy="548640"/>
          </a:xfrm>
          <a:prstGeom prst="rect">
            <a:avLst/>
          </a:prstGeom>
          <a:noFill/>
          <a:ln/>
        </p:spPr>
        <p:txBody>
          <a:bodyPr wrap="square" lIns="0" tIns="0" rIns="0" bIns="0" rtlCol="0" anchor="ctr"/>
          <a:lstStyle/>
          <a:p>
            <a:pPr indent="0" marL="0">
              <a:buNone/>
            </a:pPr>
            <a:r>
              <a:rPr lang="en-US" sz="1250" dirty="0">
                <a:solidFill>
                  <a:srgbClr val="5A6B63"/>
                </a:solidFill>
                <a:latin typeface="Arial" pitchFamily="34" charset="0"/>
                <a:ea typeface="Arial" pitchFamily="34" charset="-122"/>
                <a:cs typeface="Arial" pitchFamily="34" charset="-120"/>
              </a:rPr>
              <a:t>May 2014 to May 2015</a:t>
            </a:r>
            <a:endParaRPr lang="en-US" sz="1250" dirty="0"/>
          </a:p>
        </p:txBody>
      </p:sp>
      <p:sp>
        <p:nvSpPr>
          <p:cNvPr id="7" name="Shape 5"/>
          <p:cNvSpPr/>
          <p:nvPr/>
        </p:nvSpPr>
        <p:spPr>
          <a:xfrm>
            <a:off x="548640" y="2606040"/>
            <a:ext cx="128016" cy="128016"/>
          </a:xfrm>
          <a:prstGeom prst="ellipse">
            <a:avLst/>
          </a:prstGeom>
          <a:solidFill>
            <a:srgbClr val="D97A34"/>
          </a:solidFill>
          <a:ln w="12700">
            <a:solidFill>
              <a:srgbClr val="D97A34"/>
            </a:solidFill>
            <a:prstDash val="solid"/>
          </a:ln>
        </p:spPr>
      </p:sp>
      <p:sp>
        <p:nvSpPr>
          <p:cNvPr id="8" name="Text 6"/>
          <p:cNvSpPr txBox="1"/>
          <p:nvPr/>
        </p:nvSpPr>
        <p:spPr>
          <a:xfrm>
            <a:off x="932688" y="2514600"/>
            <a:ext cx="2834640" cy="365760"/>
          </a:xfrm>
          <a:prstGeom prst="rect">
            <a:avLst/>
          </a:prstGeom>
          <a:noFill/>
          <a:ln/>
        </p:spPr>
        <p:txBody>
          <a:bodyPr wrap="square" lIns="0" tIns="0" rIns="0" bIns="0" rtlCol="0" anchor="ctr"/>
          <a:lstStyle/>
          <a:p>
            <a:pPr indent="0" marL="0">
              <a:buNone/>
            </a:pPr>
            <a:r>
              <a:rPr lang="en-US" sz="1700" b="1" dirty="0">
                <a:solidFill>
                  <a:srgbClr val="1F4235"/>
                </a:solidFill>
                <a:latin typeface="Palatino" pitchFamily="34" charset="0"/>
                <a:ea typeface="Palatino" pitchFamily="34" charset="-122"/>
                <a:cs typeface="Palatino" pitchFamily="34" charset="-120"/>
              </a:rPr>
              <a:t>Association, not cause</a:t>
            </a:r>
            <a:endParaRPr lang="en-US" sz="1700" dirty="0"/>
          </a:p>
        </p:txBody>
      </p:sp>
      <p:sp>
        <p:nvSpPr>
          <p:cNvPr id="9" name="Text 7"/>
          <p:cNvSpPr txBox="1"/>
          <p:nvPr/>
        </p:nvSpPr>
        <p:spPr>
          <a:xfrm>
            <a:off x="3840480" y="2505456"/>
            <a:ext cx="4754880" cy="548640"/>
          </a:xfrm>
          <a:prstGeom prst="rect">
            <a:avLst/>
          </a:prstGeom>
          <a:noFill/>
          <a:ln/>
        </p:spPr>
        <p:txBody>
          <a:bodyPr wrap="square" lIns="0" tIns="0" rIns="0" bIns="0" rtlCol="0" anchor="ctr"/>
          <a:lstStyle/>
          <a:p>
            <a:pPr indent="0" marL="0">
              <a:buNone/>
            </a:pPr>
            <a:r>
              <a:rPr lang="en-US" sz="1250" dirty="0">
                <a:solidFill>
                  <a:srgbClr val="5A6B63"/>
                </a:solidFill>
                <a:latin typeface="Arial" pitchFamily="34" charset="0"/>
                <a:ea typeface="Arial" pitchFamily="34" charset="-122"/>
                <a:cs typeface="Arial" pitchFamily="34" charset="-120"/>
              </a:rPr>
              <a:t>renovated homes sell higher — not proof that renovating caused it</a:t>
            </a:r>
            <a:endParaRPr lang="en-US" sz="1250" dirty="0"/>
          </a:p>
        </p:txBody>
      </p:sp>
      <p:sp>
        <p:nvSpPr>
          <p:cNvPr id="10" name="Shape 8"/>
          <p:cNvSpPr/>
          <p:nvPr/>
        </p:nvSpPr>
        <p:spPr>
          <a:xfrm>
            <a:off x="548640" y="3566160"/>
            <a:ext cx="128016" cy="128016"/>
          </a:xfrm>
          <a:prstGeom prst="ellipse">
            <a:avLst/>
          </a:prstGeom>
          <a:solidFill>
            <a:srgbClr val="D97A34"/>
          </a:solidFill>
          <a:ln w="12700">
            <a:solidFill>
              <a:srgbClr val="D97A34"/>
            </a:solidFill>
            <a:prstDash val="solid"/>
          </a:ln>
        </p:spPr>
      </p:sp>
      <p:sp>
        <p:nvSpPr>
          <p:cNvPr id="11" name="Text 9"/>
          <p:cNvSpPr txBox="1"/>
          <p:nvPr/>
        </p:nvSpPr>
        <p:spPr>
          <a:xfrm>
            <a:off x="932688" y="3474720"/>
            <a:ext cx="2834640" cy="365760"/>
          </a:xfrm>
          <a:prstGeom prst="rect">
            <a:avLst/>
          </a:prstGeom>
          <a:noFill/>
          <a:ln/>
        </p:spPr>
        <p:txBody>
          <a:bodyPr wrap="square" lIns="0" tIns="0" rIns="0" bIns="0" rtlCol="0" anchor="ctr"/>
          <a:lstStyle/>
          <a:p>
            <a:pPr indent="0" marL="0">
              <a:buNone/>
            </a:pPr>
            <a:r>
              <a:rPr lang="en-US" sz="1700" b="1" dirty="0">
                <a:solidFill>
                  <a:srgbClr val="1F4235"/>
                </a:solidFill>
                <a:latin typeface="Palatino" pitchFamily="34" charset="0"/>
                <a:ea typeface="Palatino" pitchFamily="34" charset="-122"/>
                <a:cs typeface="Palatino" pitchFamily="34" charset="-120"/>
              </a:rPr>
              <a:t>A small renovated group</a:t>
            </a:r>
            <a:endParaRPr lang="en-US" sz="1700" dirty="0"/>
          </a:p>
        </p:txBody>
      </p:sp>
      <p:sp>
        <p:nvSpPr>
          <p:cNvPr id="12" name="Text 10"/>
          <p:cNvSpPr txBox="1"/>
          <p:nvPr/>
        </p:nvSpPr>
        <p:spPr>
          <a:xfrm>
            <a:off x="3840480" y="3465576"/>
            <a:ext cx="4754880" cy="548640"/>
          </a:xfrm>
          <a:prstGeom prst="rect">
            <a:avLst/>
          </a:prstGeom>
          <a:noFill/>
          <a:ln/>
        </p:spPr>
        <p:txBody>
          <a:bodyPr wrap="square" lIns="0" tIns="0" rIns="0" bIns="0" rtlCol="0" anchor="ctr"/>
          <a:lstStyle/>
          <a:p>
            <a:pPr indent="0" marL="0">
              <a:buNone/>
            </a:pPr>
            <a:r>
              <a:rPr lang="en-US" sz="1250" dirty="0">
                <a:solidFill>
                  <a:srgbClr val="5A6B63"/>
                </a:solidFill>
                <a:latin typeface="Arial" pitchFamily="34" charset="0"/>
                <a:ea typeface="Arial" pitchFamily="34" charset="-122"/>
                <a:cs typeface="Arial" pitchFamily="34" charset="-120"/>
              </a:rPr>
              <a:t>744 sales out of 21,597</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F4235"/>
        </a:solidFill>
      </p:bgPr>
    </p:bg>
    <p:spTree>
      <p:nvGrpSpPr>
        <p:cNvPr id="1" name=""/>
        <p:cNvGrpSpPr/>
        <p:nvPr/>
      </p:nvGrpSpPr>
      <p:grpSpPr>
        <a:xfrm>
          <a:off x="0" y="0"/>
          <a:ext cx="0" cy="0"/>
          <a:chOff x="0" y="0"/>
          <a:chExt cx="0" cy="0"/>
        </a:xfrm>
      </p:grpSpPr>
      <p:sp>
        <p:nvSpPr>
          <p:cNvPr id="2" name="Text 0"/>
          <p:cNvSpPr txBox="1"/>
          <p:nvPr/>
        </p:nvSpPr>
        <p:spPr>
          <a:xfrm>
            <a:off x="548640" y="1874520"/>
            <a:ext cx="8046720" cy="868680"/>
          </a:xfrm>
          <a:prstGeom prst="rect">
            <a:avLst/>
          </a:prstGeom>
          <a:noFill/>
          <a:ln/>
        </p:spPr>
        <p:txBody>
          <a:bodyPr wrap="square" lIns="0" tIns="0" rIns="0" bIns="0" rtlCol="0" anchor="ctr"/>
          <a:lstStyle/>
          <a:p>
            <a:pPr indent="0" marL="0">
              <a:buNone/>
            </a:pPr>
            <a:r>
              <a:rPr lang="en-US" sz="4400" b="1" dirty="0">
                <a:solidFill>
                  <a:srgbClr val="FFFFFF"/>
                </a:solidFill>
                <a:latin typeface="Palatino" pitchFamily="34" charset="0"/>
                <a:ea typeface="Palatino" pitchFamily="34" charset="-122"/>
                <a:cs typeface="Palatino" pitchFamily="34" charset="-120"/>
              </a:rPr>
              <a:t>Questions</a:t>
            </a:r>
            <a:endParaRPr lang="en-US" sz="4400" dirty="0"/>
          </a:p>
        </p:txBody>
      </p:sp>
      <p:sp>
        <p:nvSpPr>
          <p:cNvPr id="3" name="Text 1"/>
          <p:cNvSpPr txBox="1"/>
          <p:nvPr/>
        </p:nvSpPr>
        <p:spPr>
          <a:xfrm>
            <a:off x="548640" y="2788920"/>
            <a:ext cx="8046720" cy="411480"/>
          </a:xfrm>
          <a:prstGeom prst="rect">
            <a:avLst/>
          </a:prstGeom>
          <a:noFill/>
          <a:ln/>
        </p:spPr>
        <p:txBody>
          <a:bodyPr wrap="square" lIns="0" tIns="0" rIns="0" bIns="0" rtlCol="0" anchor="ctr"/>
          <a:lstStyle/>
          <a:p>
            <a:pPr indent="0" marL="0">
              <a:buNone/>
            </a:pPr>
            <a:r>
              <a:rPr lang="en-US" sz="1500" dirty="0">
                <a:solidFill>
                  <a:srgbClr val="D97A34"/>
                </a:solidFill>
                <a:latin typeface="Arial" pitchFamily="34" charset="0"/>
                <a:ea typeface="Arial" pitchFamily="34" charset="-122"/>
                <a:cs typeface="Arial" pitchFamily="34" charset="-120"/>
              </a:rPr>
              <a:t>Sell in spring   ·   Buy by zipcode   ·   Skip the renovation</a:t>
            </a:r>
            <a:endParaRPr lang="en-US" sz="1500" dirty="0"/>
          </a:p>
        </p:txBody>
      </p:sp>
      <p:sp>
        <p:nvSpPr>
          <p:cNvPr id="4" name="Text 2"/>
          <p:cNvSpPr txBox="1"/>
          <p:nvPr/>
        </p:nvSpPr>
        <p:spPr>
          <a:xfrm>
            <a:off x="548640" y="4251960"/>
            <a:ext cx="8046720" cy="274320"/>
          </a:xfrm>
          <a:prstGeom prst="rect">
            <a:avLst/>
          </a:prstGeom>
          <a:noFill/>
          <a:ln/>
        </p:spPr>
        <p:txBody>
          <a:bodyPr wrap="square" lIns="0" tIns="0" rIns="0" bIns="0" rtlCol="0" anchor="ctr"/>
          <a:lstStyle/>
          <a:p>
            <a:pPr indent="0" marL="0">
              <a:buNone/>
            </a:pPr>
            <a:r>
              <a:rPr lang="en-US" sz="1050" dirty="0">
                <a:solidFill>
                  <a:srgbClr val="A8C6B4"/>
                </a:solidFill>
                <a:latin typeface="Arial" pitchFamily="34" charset="0"/>
                <a:ea typeface="Arial" pitchFamily="34" charset="-122"/>
                <a:cs typeface="Arial" pitchFamily="34" charset="-120"/>
              </a:rPr>
              <a:t>github.com/rouzbeh-enayatzadeh/eda-project</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King County Housing — Charles Christensen</dc:title>
  <dc:subject>PptxGenJS Presentation</dc:subject>
  <dc:creator>Rouzbeh Enayatzadeh</dc:creator>
  <cp:lastModifiedBy>Rouzbeh Enayatzadeh</cp:lastModifiedBy>
  <cp:revision>1</cp:revision>
  <dcterms:created xsi:type="dcterms:W3CDTF">2026-09-18T08:13:09Z</dcterms:created>
  <dcterms:modified xsi:type="dcterms:W3CDTF">2026-09-18T08:13:09Z</dcterms:modified>
</cp:coreProperties>
</file>